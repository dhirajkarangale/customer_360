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2" r:id="rId3"/>
    <p:sldId id="257" r:id="rId4"/>
    <p:sldId id="265" r:id="rId5"/>
    <p:sldId id="266" r:id="rId6"/>
    <p:sldId id="261" r:id="rId7"/>
  </p:sldIdLst>
  <p:sldSz cx="9144000" cy="5143500" type="screen16x9"/>
  <p:notesSz cx="6858000" cy="9144000"/>
  <p:embeddedFontLst>
    <p:embeddedFont>
      <p:font typeface="Manrope SemiBold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9D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645" dt="2026-10-04T11:45:53.900"/>
    <p1510:client id="{C3C19BD0-0E77-616F-EB0D-3F42827CB53D}" v="381" dt="2026-10-04T08:42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429FE-8F5C-400B-910E-6542DAF8B63C}" type="datetimeFigureOut"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C01CA-1FC3-4EDE-82B3-4E00C314F5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D683AD91-8A10-CAEC-F07E-3846E7F9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176FAB62-B434-7357-ABF8-DCFF865D31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49770E77-1B5B-1B78-C59C-7961352266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6922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314564D0-134D-66BC-8A7C-DFF53C7E1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8227C74E-2050-0091-48B8-D7570CAE6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A852BBFE-9FE8-98C5-44FB-298AECE0D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151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0D870CE9-8219-AA6D-20DE-E93CD2D9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9475250D-6490-E570-4A11-2BFD89A42F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1" name="Google Shape;61;p2:notes">
            <a:extLst>
              <a:ext uri="{FF2B5EF4-FFF2-40B4-BE49-F238E27FC236}">
                <a16:creationId xmlns:a16="http://schemas.microsoft.com/office/drawing/2014/main" id="{1A4EADB0-5C1F-F21E-464F-55E23D8C3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2182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vk-g8jq4EDI" TargetMode="External"/><Relationship Id="rId5" Type="http://schemas.openxmlformats.org/officeDocument/2006/relationships/hyperlink" Target="https://github.com/DhirajKarangale/Customer_360" TargetMode="External"/><Relationship Id="rId4" Type="http://schemas.openxmlformats.org/officeDocument/2006/relationships/hyperlink" Target="https://customer360-theta.vercel.app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>
              <a:buSzPts val="1343"/>
            </a:pPr>
            <a:r>
              <a:rPr lang="en-GB" sz="1300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lang="en-GB" sz="13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GB" sz="1300" b="1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DCoders</a:t>
            </a:r>
            <a:r>
              <a:rPr lang="en-GB" sz="13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>
              <a:lnSpc>
                <a:spcPct val="70000"/>
              </a:lnSpc>
              <a:buSzPts val="1343"/>
            </a:pPr>
            <a:r>
              <a:rPr lang="en-GB" sz="1300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lang="en-GB" sz="13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US" sz="13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Customer 360 and Next Best Action Engine</a:t>
            </a:r>
          </a:p>
          <a:p>
            <a:pPr>
              <a:lnSpc>
                <a:spcPct val="70000"/>
              </a:lnSpc>
              <a:buSzPts val="1343"/>
            </a:pPr>
            <a:endParaRPr lang="en-GB" sz="1300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>
              <a:lnSpc>
                <a:spcPct val="80000"/>
              </a:lnSpc>
              <a:buSzPts val="1343"/>
            </a:pPr>
            <a:r>
              <a:rPr lang="en-GB" sz="1300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lang="en-GB" sz="13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Dhiraj Karangale 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pPr>
              <a:lnSpc>
                <a:spcPct val="70000"/>
              </a:lnSpc>
              <a:buSzPts val="1343"/>
            </a:pPr>
            <a:r>
              <a:rPr lang="en-GB" sz="1300" b="0" i="0" u="none" strike="noStrike" cap="none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r>
              <a:rPr lang="en-GB" sz="13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4 </a:t>
            </a:r>
            <a:endParaRPr sz="1343" b="0" i="0" u="none" strike="noStrike" cap="none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08B373B-FC4E-9B17-6E96-BA5356C05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>
            <a:extLst>
              <a:ext uri="{FF2B5EF4-FFF2-40B4-BE49-F238E27FC236}">
                <a16:creationId xmlns:a16="http://schemas.microsoft.com/office/drawing/2014/main" id="{B6584885-B1C3-B958-D87A-71561D18B0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TextBox 82" descr="ProblemBriefGenerated">
            <a:extLst>
              <a:ext uri="{FF2B5EF4-FFF2-40B4-BE49-F238E27FC236}">
                <a16:creationId xmlns:a16="http://schemas.microsoft.com/office/drawing/2014/main" id="{64EC9D5A-DB05-71A0-DA86-709C9C97AB66}"/>
              </a:ext>
            </a:extLst>
          </p:cNvPr>
          <p:cNvSpPr txBox="1"/>
          <p:nvPr/>
        </p:nvSpPr>
        <p:spPr>
          <a:xfrm>
            <a:off x="533400" y="770066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1800" b="1" dirty="0">
                <a:solidFill>
                  <a:srgbClr val="191919"/>
                </a:solidFill>
                <a:latin typeface="Aptos" panose="020B0004020202020204" pitchFamily="34" charset="0"/>
              </a:rPr>
              <a:t>Problem Brief</a:t>
            </a:r>
          </a:p>
        </p:txBody>
      </p:sp>
      <p:sp>
        <p:nvSpPr>
          <p:cNvPr id="84" name="TextBox 83" descr="ProblemBriefGenerated">
            <a:extLst>
              <a:ext uri="{FF2B5EF4-FFF2-40B4-BE49-F238E27FC236}">
                <a16:creationId xmlns:a16="http://schemas.microsoft.com/office/drawing/2014/main" id="{2CB48AD3-2F53-4C8A-5396-12DC84E45572}"/>
              </a:ext>
            </a:extLst>
          </p:cNvPr>
          <p:cNvSpPr txBox="1"/>
          <p:nvPr/>
        </p:nvSpPr>
        <p:spPr>
          <a:xfrm>
            <a:off x="533400" y="1062166"/>
            <a:ext cx="762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00">
                <a:solidFill>
                  <a:srgbClr val="555555"/>
                </a:solidFill>
                <a:latin typeface="Aptos" panose="020B0004020202020204" pitchFamily="34" charset="0"/>
              </a:rPr>
              <a:t>Helping frontline agents understand customers and decide what to do next</a:t>
            </a:r>
            <a:endParaRPr lang="en-IN" sz="80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cxnSp>
        <p:nvCxnSpPr>
          <p:cNvPr id="85" name="Straight Connector 84" descr="ProblemBriefGenerated">
            <a:extLst>
              <a:ext uri="{FF2B5EF4-FFF2-40B4-BE49-F238E27FC236}">
                <a16:creationId xmlns:a16="http://schemas.microsoft.com/office/drawing/2014/main" id="{931EE71F-709E-BB61-F267-DEE9B3047961}"/>
              </a:ext>
            </a:extLst>
          </p:cNvPr>
          <p:cNvCxnSpPr/>
          <p:nvPr/>
        </p:nvCxnSpPr>
        <p:spPr>
          <a:xfrm>
            <a:off x="533400" y="1244600"/>
            <a:ext cx="8077200" cy="0"/>
          </a:xfrm>
          <a:prstGeom prst="line">
            <a:avLst/>
          </a:prstGeom>
          <a:ln w="16510">
            <a:solidFill>
              <a:srgbClr val="009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 descr="ProblemBriefGenerated">
            <a:extLst>
              <a:ext uri="{FF2B5EF4-FFF2-40B4-BE49-F238E27FC236}">
                <a16:creationId xmlns:a16="http://schemas.microsoft.com/office/drawing/2014/main" id="{CC7685FD-4427-FEBC-B68C-284855D4E630}"/>
              </a:ext>
            </a:extLst>
          </p:cNvPr>
          <p:cNvSpPr txBox="1"/>
          <p:nvPr/>
        </p:nvSpPr>
        <p:spPr>
          <a:xfrm>
            <a:off x="533400" y="1417766"/>
            <a:ext cx="3810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0096E6"/>
                </a:solidFill>
                <a:latin typeface="Aptos" panose="020B0004020202020204" pitchFamily="34" charset="0"/>
              </a:rPr>
              <a:t>01  REAL BUSINESS PROBLEM</a:t>
            </a:r>
          </a:p>
        </p:txBody>
      </p:sp>
      <p:sp>
        <p:nvSpPr>
          <p:cNvPr id="87" name="TextBox 86" descr="ProblemBriefGenerated">
            <a:extLst>
              <a:ext uri="{FF2B5EF4-FFF2-40B4-BE49-F238E27FC236}">
                <a16:creationId xmlns:a16="http://schemas.microsoft.com/office/drawing/2014/main" id="{F6ED2CDE-C057-1588-0423-CD03C64A1BC9}"/>
              </a:ext>
            </a:extLst>
          </p:cNvPr>
          <p:cNvSpPr txBox="1"/>
          <p:nvPr/>
        </p:nvSpPr>
        <p:spPr>
          <a:xfrm>
            <a:off x="533400" y="1671766"/>
            <a:ext cx="3746500" cy="3785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20">
                <a:solidFill>
                  <a:srgbClr val="191919"/>
                </a:solidFill>
                <a:latin typeface="Aptos" panose="020B0004020202020204" pitchFamily="34" charset="0"/>
              </a:rPr>
              <a:t>Frontline agents need to make fast, informed decisions while speaking with customers, but relevant information is spread across multiple systems and conversations.</a:t>
            </a:r>
            <a:endParaRPr lang="en-IN" sz="820">
              <a:solidFill>
                <a:srgbClr val="191919"/>
              </a:solidFill>
              <a:latin typeface="Aptos" panose="020B0004020202020204" pitchFamily="34" charset="0"/>
            </a:endParaRPr>
          </a:p>
        </p:txBody>
      </p:sp>
      <p:sp>
        <p:nvSpPr>
          <p:cNvPr id="88" name="TextBox 87" descr="ProblemBriefGenerated">
            <a:extLst>
              <a:ext uri="{FF2B5EF4-FFF2-40B4-BE49-F238E27FC236}">
                <a16:creationId xmlns:a16="http://schemas.microsoft.com/office/drawing/2014/main" id="{C97E1448-76B0-A3D6-B8A5-AF6BAB2D5403}"/>
              </a:ext>
            </a:extLst>
          </p:cNvPr>
          <p:cNvSpPr txBox="1"/>
          <p:nvPr/>
        </p:nvSpPr>
        <p:spPr>
          <a:xfrm>
            <a:off x="533400" y="2294066"/>
            <a:ext cx="3746500" cy="2523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20">
                <a:solidFill>
                  <a:srgbClr val="555555"/>
                </a:solidFill>
                <a:latin typeface="Aptos" panose="020B0004020202020204" pitchFamily="34" charset="0"/>
              </a:rPr>
              <a:t>This slows customer understanding and makes it easier to miss important needs, dissatisfaction and hidden churn risks.</a:t>
            </a:r>
            <a:endParaRPr lang="en-IN" sz="82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89" name="TextBox 88" descr="ProblemBriefGenerated">
            <a:extLst>
              <a:ext uri="{FF2B5EF4-FFF2-40B4-BE49-F238E27FC236}">
                <a16:creationId xmlns:a16="http://schemas.microsoft.com/office/drawing/2014/main" id="{F0A56A9B-8E8F-ECC5-5B62-B9811716787C}"/>
              </a:ext>
            </a:extLst>
          </p:cNvPr>
          <p:cNvSpPr txBox="1"/>
          <p:nvPr/>
        </p:nvSpPr>
        <p:spPr>
          <a:xfrm>
            <a:off x="4635500" y="1417766"/>
            <a:ext cx="3810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0096E6"/>
                </a:solidFill>
                <a:latin typeface="Aptos" panose="020B0004020202020204" pitchFamily="34" charset="0"/>
              </a:rPr>
              <a:t>02  TARGET USER / PERSONA</a:t>
            </a:r>
          </a:p>
        </p:txBody>
      </p:sp>
      <p:sp>
        <p:nvSpPr>
          <p:cNvPr id="90" name="TextBox 89" descr="ProblemBriefGenerated">
            <a:extLst>
              <a:ext uri="{FF2B5EF4-FFF2-40B4-BE49-F238E27FC236}">
                <a16:creationId xmlns:a16="http://schemas.microsoft.com/office/drawing/2014/main" id="{21035E4B-82E5-ECDB-2E4A-4B3B9C6F62D4}"/>
              </a:ext>
            </a:extLst>
          </p:cNvPr>
          <p:cNvSpPr txBox="1"/>
          <p:nvPr/>
        </p:nvSpPr>
        <p:spPr>
          <a:xfrm>
            <a:off x="4635500" y="1671766"/>
            <a:ext cx="3810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950" b="1">
                <a:solidFill>
                  <a:srgbClr val="191919"/>
                </a:solidFill>
                <a:latin typeface="Aptos" panose="020B0004020202020204" pitchFamily="34" charset="0"/>
              </a:rPr>
              <a:t>Frontline agents and retention specialists</a:t>
            </a:r>
            <a:endParaRPr lang="en-IN" sz="950" b="1">
              <a:solidFill>
                <a:srgbClr val="191919"/>
              </a:solidFill>
              <a:latin typeface="Aptos" panose="020B0004020202020204" pitchFamily="34" charset="0"/>
            </a:endParaRPr>
          </a:p>
        </p:txBody>
      </p:sp>
      <p:sp>
        <p:nvSpPr>
          <p:cNvPr id="91" name="TextBox 90" descr="ProblemBriefGenerated">
            <a:extLst>
              <a:ext uri="{FF2B5EF4-FFF2-40B4-BE49-F238E27FC236}">
                <a16:creationId xmlns:a16="http://schemas.microsoft.com/office/drawing/2014/main" id="{EEC87D36-D807-7433-1ABC-893CAB897C7E}"/>
              </a:ext>
            </a:extLst>
          </p:cNvPr>
          <p:cNvSpPr txBox="1"/>
          <p:nvPr/>
        </p:nvSpPr>
        <p:spPr>
          <a:xfrm>
            <a:off x="4635500" y="1989266"/>
            <a:ext cx="1524000" cy="110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20" b="1">
                <a:solidFill>
                  <a:srgbClr val="005087"/>
                </a:solidFill>
                <a:latin typeface="Aptos" panose="020B0004020202020204" pitchFamily="34" charset="0"/>
              </a:rPr>
              <a:t>INDUSTRY / DOMAIN</a:t>
            </a:r>
          </a:p>
        </p:txBody>
      </p:sp>
      <p:sp>
        <p:nvSpPr>
          <p:cNvPr id="92" name="TextBox 91" descr="ProblemBriefGenerated">
            <a:extLst>
              <a:ext uri="{FF2B5EF4-FFF2-40B4-BE49-F238E27FC236}">
                <a16:creationId xmlns:a16="http://schemas.microsoft.com/office/drawing/2014/main" id="{F8B2F1C3-CB38-78A6-FE05-C4B03AD9DFE9}"/>
              </a:ext>
            </a:extLst>
          </p:cNvPr>
          <p:cNvSpPr txBox="1"/>
          <p:nvPr/>
        </p:nvSpPr>
        <p:spPr>
          <a:xfrm>
            <a:off x="4635500" y="2179766"/>
            <a:ext cx="381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800">
                <a:solidFill>
                  <a:srgbClr val="555555"/>
                </a:solidFill>
                <a:latin typeface="Aptos" panose="020B0004020202020204" pitchFamily="34" charset="0"/>
              </a:rPr>
              <a:t>Insurance  •  Banking  •  Financial Services  •  Lending</a:t>
            </a:r>
          </a:p>
        </p:txBody>
      </p:sp>
      <p:sp>
        <p:nvSpPr>
          <p:cNvPr id="93" name="TextBox 92" descr="ProblemBriefGenerated">
            <a:extLst>
              <a:ext uri="{FF2B5EF4-FFF2-40B4-BE49-F238E27FC236}">
                <a16:creationId xmlns:a16="http://schemas.microsoft.com/office/drawing/2014/main" id="{218A683E-B110-A52D-8708-437039E180BF}"/>
              </a:ext>
            </a:extLst>
          </p:cNvPr>
          <p:cNvSpPr txBox="1"/>
          <p:nvPr/>
        </p:nvSpPr>
        <p:spPr>
          <a:xfrm>
            <a:off x="4635500" y="2522666"/>
            <a:ext cx="3810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00">
                <a:solidFill>
                  <a:srgbClr val="555555"/>
                </a:solidFill>
                <a:latin typeface="Aptos" panose="020B0004020202020204" pitchFamily="34" charset="0"/>
              </a:rPr>
              <a:t>High-volume customer interactions where timely context can directly influence engagement and retention.</a:t>
            </a:r>
            <a:endParaRPr lang="en-IN" sz="80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cxnSp>
        <p:nvCxnSpPr>
          <p:cNvPr id="94" name="Straight Connector 93" descr="ProblemBriefGenerated">
            <a:extLst>
              <a:ext uri="{FF2B5EF4-FFF2-40B4-BE49-F238E27FC236}">
                <a16:creationId xmlns:a16="http://schemas.microsoft.com/office/drawing/2014/main" id="{DCEDD10A-E6DD-EECF-D035-54282BABC2C9}"/>
              </a:ext>
            </a:extLst>
          </p:cNvPr>
          <p:cNvCxnSpPr/>
          <p:nvPr/>
        </p:nvCxnSpPr>
        <p:spPr>
          <a:xfrm>
            <a:off x="533400" y="2857500"/>
            <a:ext cx="8077200" cy="0"/>
          </a:xfrm>
          <a:prstGeom prst="line">
            <a:avLst/>
          </a:prstGeom>
          <a:ln w="1016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 descr="ProblemBriefGenerated">
            <a:extLst>
              <a:ext uri="{FF2B5EF4-FFF2-40B4-BE49-F238E27FC236}">
                <a16:creationId xmlns:a16="http://schemas.microsoft.com/office/drawing/2014/main" id="{07A938A8-B9AC-2002-8F2A-E8BCF5008052}"/>
              </a:ext>
            </a:extLst>
          </p:cNvPr>
          <p:cNvSpPr txBox="1"/>
          <p:nvPr/>
        </p:nvSpPr>
        <p:spPr>
          <a:xfrm>
            <a:off x="533400" y="3056066"/>
            <a:ext cx="3810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0096E6"/>
                </a:solidFill>
                <a:latin typeface="Aptos" panose="020B0004020202020204" pitchFamily="34" charset="0"/>
              </a:rPr>
              <a:t>03  CURRENT PAIN POINT</a:t>
            </a:r>
          </a:p>
        </p:txBody>
      </p:sp>
      <p:sp>
        <p:nvSpPr>
          <p:cNvPr id="96" name="Oval 95" descr="ProblemBriefGenerated">
            <a:extLst>
              <a:ext uri="{FF2B5EF4-FFF2-40B4-BE49-F238E27FC236}">
                <a16:creationId xmlns:a16="http://schemas.microsoft.com/office/drawing/2014/main" id="{763A8A93-60AD-04ED-AF52-A53CBA1E7446}"/>
              </a:ext>
            </a:extLst>
          </p:cNvPr>
          <p:cNvSpPr/>
          <p:nvPr/>
        </p:nvSpPr>
        <p:spPr>
          <a:xfrm>
            <a:off x="533400" y="33401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TextBox 96" descr="ProblemBriefGenerated">
            <a:extLst>
              <a:ext uri="{FF2B5EF4-FFF2-40B4-BE49-F238E27FC236}">
                <a16:creationId xmlns:a16="http://schemas.microsoft.com/office/drawing/2014/main" id="{BD77BE5D-1E9C-EA6C-1477-B2DA27B71774}"/>
              </a:ext>
            </a:extLst>
          </p:cNvPr>
          <p:cNvSpPr txBox="1"/>
          <p:nvPr/>
        </p:nvSpPr>
        <p:spPr>
          <a:xfrm>
            <a:off x="660400" y="3322766"/>
            <a:ext cx="3683000" cy="1138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40">
                <a:solidFill>
                  <a:srgbClr val="555555"/>
                </a:solidFill>
                <a:latin typeface="Aptos" panose="020B0004020202020204" pitchFamily="34" charset="0"/>
              </a:rPr>
              <a:t>Customer profiles, policies, transactions and KPIs are spread across databases.</a:t>
            </a:r>
            <a:endParaRPr lang="en-IN" sz="74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98" name="Oval 97" descr="ProblemBriefGenerated">
            <a:extLst>
              <a:ext uri="{FF2B5EF4-FFF2-40B4-BE49-F238E27FC236}">
                <a16:creationId xmlns:a16="http://schemas.microsoft.com/office/drawing/2014/main" id="{09783DFA-73DA-A2F3-EAF2-90C1A98F547C}"/>
              </a:ext>
            </a:extLst>
          </p:cNvPr>
          <p:cNvSpPr/>
          <p:nvPr/>
        </p:nvSpPr>
        <p:spPr>
          <a:xfrm>
            <a:off x="533400" y="36195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TextBox 98" descr="ProblemBriefGenerated">
            <a:extLst>
              <a:ext uri="{FF2B5EF4-FFF2-40B4-BE49-F238E27FC236}">
                <a16:creationId xmlns:a16="http://schemas.microsoft.com/office/drawing/2014/main" id="{885AF5DE-E614-C015-2974-8E0A183ADB15}"/>
              </a:ext>
            </a:extLst>
          </p:cNvPr>
          <p:cNvSpPr txBox="1"/>
          <p:nvPr/>
        </p:nvSpPr>
        <p:spPr>
          <a:xfrm>
            <a:off x="660400" y="3602166"/>
            <a:ext cx="3683000" cy="2277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40">
                <a:solidFill>
                  <a:srgbClr val="555555"/>
                </a:solidFill>
                <a:latin typeface="Aptos" panose="020B0004020202020204" pitchFamily="34" charset="0"/>
              </a:rPr>
              <a:t>Emails, chats, notes and call transcripts contain valuable context but are difficult to process quickly.</a:t>
            </a:r>
            <a:endParaRPr lang="en-IN" sz="74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00" name="Oval 99" descr="ProblemBriefGenerated">
            <a:extLst>
              <a:ext uri="{FF2B5EF4-FFF2-40B4-BE49-F238E27FC236}">
                <a16:creationId xmlns:a16="http://schemas.microsoft.com/office/drawing/2014/main" id="{6AF88827-38A1-278B-3408-4C70EBE9AC0B}"/>
              </a:ext>
            </a:extLst>
          </p:cNvPr>
          <p:cNvSpPr/>
          <p:nvPr/>
        </p:nvSpPr>
        <p:spPr>
          <a:xfrm>
            <a:off x="533400" y="38989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TextBox 100" descr="ProblemBriefGenerated">
            <a:extLst>
              <a:ext uri="{FF2B5EF4-FFF2-40B4-BE49-F238E27FC236}">
                <a16:creationId xmlns:a16="http://schemas.microsoft.com/office/drawing/2014/main" id="{E1578467-1577-A23C-30F4-E69C52530610}"/>
              </a:ext>
            </a:extLst>
          </p:cNvPr>
          <p:cNvSpPr txBox="1"/>
          <p:nvPr/>
        </p:nvSpPr>
        <p:spPr>
          <a:xfrm>
            <a:off x="660400" y="3881566"/>
            <a:ext cx="3683000" cy="1138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40">
                <a:solidFill>
                  <a:srgbClr val="555555"/>
                </a:solidFill>
                <a:latin typeface="Aptos" panose="020B0004020202020204" pitchFamily="34" charset="0"/>
              </a:rPr>
              <a:t>Traditional CRM views can miss conversational sentiment and emerging churn signals.</a:t>
            </a:r>
            <a:endParaRPr lang="en-IN" sz="74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02" name="Oval 101" descr="ProblemBriefGenerated">
            <a:extLst>
              <a:ext uri="{FF2B5EF4-FFF2-40B4-BE49-F238E27FC236}">
                <a16:creationId xmlns:a16="http://schemas.microsoft.com/office/drawing/2014/main" id="{8989333E-491D-22FE-CC10-F5E299AC0852}"/>
              </a:ext>
            </a:extLst>
          </p:cNvPr>
          <p:cNvSpPr/>
          <p:nvPr/>
        </p:nvSpPr>
        <p:spPr>
          <a:xfrm>
            <a:off x="533400" y="41783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TextBox 102" descr="ProblemBriefGenerated">
            <a:extLst>
              <a:ext uri="{FF2B5EF4-FFF2-40B4-BE49-F238E27FC236}">
                <a16:creationId xmlns:a16="http://schemas.microsoft.com/office/drawing/2014/main" id="{9E0687E7-AF62-C53F-5653-4E238DD8F56A}"/>
              </a:ext>
            </a:extLst>
          </p:cNvPr>
          <p:cNvSpPr txBox="1"/>
          <p:nvPr/>
        </p:nvSpPr>
        <p:spPr>
          <a:xfrm>
            <a:off x="660400" y="4160966"/>
            <a:ext cx="3683000" cy="1138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40">
                <a:solidFill>
                  <a:srgbClr val="555555"/>
                </a:solidFill>
                <a:latin typeface="Aptos" panose="020B0004020202020204" pitchFamily="34" charset="0"/>
              </a:rPr>
              <a:t>Agents spend time searching for context instead of focusing on the customer.</a:t>
            </a:r>
            <a:endParaRPr lang="en-IN" sz="74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04" name="TextBox 103" descr="ProblemBriefGenerated">
            <a:extLst>
              <a:ext uri="{FF2B5EF4-FFF2-40B4-BE49-F238E27FC236}">
                <a16:creationId xmlns:a16="http://schemas.microsoft.com/office/drawing/2014/main" id="{4409A748-3B8E-9085-52BC-C0C9A3598C13}"/>
              </a:ext>
            </a:extLst>
          </p:cNvPr>
          <p:cNvSpPr txBox="1"/>
          <p:nvPr/>
        </p:nvSpPr>
        <p:spPr>
          <a:xfrm>
            <a:off x="4635500" y="3056066"/>
            <a:ext cx="3810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50" b="1">
                <a:solidFill>
                  <a:srgbClr val="0096E6"/>
                </a:solidFill>
                <a:latin typeface="Aptos" panose="020B0004020202020204" pitchFamily="34" charset="0"/>
              </a:rPr>
              <a:t>04  HOW WE IMPROVE IT</a:t>
            </a:r>
            <a:endParaRPr lang="en-IN" sz="750" b="1">
              <a:solidFill>
                <a:srgbClr val="0096E6"/>
              </a:solidFill>
              <a:latin typeface="Aptos" panose="020B0004020202020204" pitchFamily="34" charset="0"/>
            </a:endParaRPr>
          </a:p>
        </p:txBody>
      </p:sp>
      <p:sp>
        <p:nvSpPr>
          <p:cNvPr id="105" name="TextBox 104" descr="ProblemBriefGenerated">
            <a:extLst>
              <a:ext uri="{FF2B5EF4-FFF2-40B4-BE49-F238E27FC236}">
                <a16:creationId xmlns:a16="http://schemas.microsoft.com/office/drawing/2014/main" id="{7F2E9180-52AE-14E9-7991-4BC689B8B222}"/>
              </a:ext>
            </a:extLst>
          </p:cNvPr>
          <p:cNvSpPr txBox="1"/>
          <p:nvPr/>
        </p:nvSpPr>
        <p:spPr>
          <a:xfrm>
            <a:off x="4635500" y="3322766"/>
            <a:ext cx="13335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850" b="1">
                <a:solidFill>
                  <a:srgbClr val="005087"/>
                </a:solidFill>
                <a:latin typeface="Aptos" panose="020B0004020202020204" pitchFamily="34" charset="0"/>
              </a:rPr>
              <a:t>CUSTOMER 360</a:t>
            </a:r>
          </a:p>
        </p:txBody>
      </p:sp>
      <p:sp>
        <p:nvSpPr>
          <p:cNvPr id="106" name="TextBox 105" descr="ProblemBriefGenerated">
            <a:extLst>
              <a:ext uri="{FF2B5EF4-FFF2-40B4-BE49-F238E27FC236}">
                <a16:creationId xmlns:a16="http://schemas.microsoft.com/office/drawing/2014/main" id="{7F525382-D676-8F2C-23A0-1EC2A65A677F}"/>
              </a:ext>
            </a:extLst>
          </p:cNvPr>
          <p:cNvSpPr txBox="1"/>
          <p:nvPr/>
        </p:nvSpPr>
        <p:spPr>
          <a:xfrm>
            <a:off x="6032500" y="3284666"/>
            <a:ext cx="2540000" cy="2369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70">
                <a:solidFill>
                  <a:srgbClr val="555555"/>
                </a:solidFill>
                <a:latin typeface="Aptos" panose="020B0004020202020204" pitchFamily="34" charset="0"/>
              </a:rPr>
              <a:t>Brings structured customer data and unstructured interactions into one view.</a:t>
            </a:r>
            <a:endParaRPr lang="en-IN" sz="77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07" name="TextBox 106" descr="ProblemBriefGenerated">
            <a:extLst>
              <a:ext uri="{FF2B5EF4-FFF2-40B4-BE49-F238E27FC236}">
                <a16:creationId xmlns:a16="http://schemas.microsoft.com/office/drawing/2014/main" id="{A8BCF291-C0DA-4F83-1B14-770B55EB4CE9}"/>
              </a:ext>
            </a:extLst>
          </p:cNvPr>
          <p:cNvSpPr txBox="1"/>
          <p:nvPr/>
        </p:nvSpPr>
        <p:spPr>
          <a:xfrm>
            <a:off x="4635500" y="3741866"/>
            <a:ext cx="13335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850" b="1">
                <a:solidFill>
                  <a:srgbClr val="005087"/>
                </a:solidFill>
                <a:latin typeface="Aptos" panose="020B0004020202020204" pitchFamily="34" charset="0"/>
              </a:rPr>
              <a:t>AI-POWERED INSIGHT</a:t>
            </a:r>
          </a:p>
        </p:txBody>
      </p:sp>
      <p:sp>
        <p:nvSpPr>
          <p:cNvPr id="108" name="TextBox 107" descr="ProblemBriefGenerated">
            <a:extLst>
              <a:ext uri="{FF2B5EF4-FFF2-40B4-BE49-F238E27FC236}">
                <a16:creationId xmlns:a16="http://schemas.microsoft.com/office/drawing/2014/main" id="{336F1A24-0CB0-B5A8-059E-2E8F24E208EF}"/>
              </a:ext>
            </a:extLst>
          </p:cNvPr>
          <p:cNvSpPr txBox="1"/>
          <p:nvPr/>
        </p:nvSpPr>
        <p:spPr>
          <a:xfrm>
            <a:off x="6032500" y="3703766"/>
            <a:ext cx="2540000" cy="2369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70">
                <a:solidFill>
                  <a:srgbClr val="555555"/>
                </a:solidFill>
                <a:latin typeface="Aptos" panose="020B0004020202020204" pitchFamily="34" charset="0"/>
              </a:rPr>
              <a:t>RAG and LLMs use customer history, sentiment and relevant interaction context to surface key signals.</a:t>
            </a:r>
            <a:endParaRPr lang="en-IN" sz="77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09" name="TextBox 108" descr="ProblemBriefGenerated">
            <a:extLst>
              <a:ext uri="{FF2B5EF4-FFF2-40B4-BE49-F238E27FC236}">
                <a16:creationId xmlns:a16="http://schemas.microsoft.com/office/drawing/2014/main" id="{2C5C823E-D1BB-6A30-8BEC-6CE081BF9ED8}"/>
              </a:ext>
            </a:extLst>
          </p:cNvPr>
          <p:cNvSpPr txBox="1"/>
          <p:nvPr/>
        </p:nvSpPr>
        <p:spPr>
          <a:xfrm>
            <a:off x="4635500" y="4199066"/>
            <a:ext cx="13335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850" b="1">
                <a:solidFill>
                  <a:srgbClr val="0096E6"/>
                </a:solidFill>
                <a:latin typeface="Aptos" panose="020B0004020202020204" pitchFamily="34" charset="0"/>
              </a:rPr>
              <a:t>NEXT BEST ACTION</a:t>
            </a:r>
          </a:p>
        </p:txBody>
      </p:sp>
      <p:sp>
        <p:nvSpPr>
          <p:cNvPr id="110" name="TextBox 109" descr="ProblemBriefGenerated">
            <a:extLst>
              <a:ext uri="{FF2B5EF4-FFF2-40B4-BE49-F238E27FC236}">
                <a16:creationId xmlns:a16="http://schemas.microsoft.com/office/drawing/2014/main" id="{17A1CBDC-4F79-8043-07B8-940C88E81DFA}"/>
              </a:ext>
            </a:extLst>
          </p:cNvPr>
          <p:cNvSpPr txBox="1"/>
          <p:nvPr/>
        </p:nvSpPr>
        <p:spPr>
          <a:xfrm>
            <a:off x="6032500" y="4160966"/>
            <a:ext cx="2540000" cy="2369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70">
                <a:solidFill>
                  <a:srgbClr val="555555"/>
                </a:solidFill>
                <a:latin typeface="Aptos" panose="020B0004020202020204" pitchFamily="34" charset="0"/>
              </a:rPr>
              <a:t>Provides a personalized recommendation with supporting context for what the agent should do next.</a:t>
            </a:r>
            <a:endParaRPr lang="en-IN" sz="77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11" name="TextBox 110" descr="ProblemBriefGenerated">
            <a:extLst>
              <a:ext uri="{FF2B5EF4-FFF2-40B4-BE49-F238E27FC236}">
                <a16:creationId xmlns:a16="http://schemas.microsoft.com/office/drawing/2014/main" id="{DF5C5F0E-5009-7D5C-2692-8349C7613793}"/>
              </a:ext>
            </a:extLst>
          </p:cNvPr>
          <p:cNvSpPr txBox="1"/>
          <p:nvPr/>
        </p:nvSpPr>
        <p:spPr>
          <a:xfrm>
            <a:off x="2635250" y="4888893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00" b="1" dirty="0">
                <a:solidFill>
                  <a:srgbClr val="005087"/>
                </a:solidFill>
                <a:latin typeface="Aptos" panose="020B0004020202020204" pitchFamily="34" charset="0"/>
              </a:rPr>
              <a:t>Scattered information  ?  Customer 360  ?  AI insight  ?  Next Best Action</a:t>
            </a:r>
            <a:endParaRPr lang="en-IN" sz="800" b="1" dirty="0">
              <a:solidFill>
                <a:srgbClr val="00508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72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TextBox 416" descr="ArchitectureGenerated">
            <a:extLst>
              <a:ext uri="{FF2B5EF4-FFF2-40B4-BE49-F238E27FC236}">
                <a16:creationId xmlns:a16="http://schemas.microsoft.com/office/drawing/2014/main" id="{EB45A09A-D9B2-C865-1A58-59646F7C019A}"/>
              </a:ext>
            </a:extLst>
          </p:cNvPr>
          <p:cNvSpPr txBox="1"/>
          <p:nvPr/>
        </p:nvSpPr>
        <p:spPr>
          <a:xfrm>
            <a:off x="533400" y="744666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1800" b="1">
                <a:solidFill>
                  <a:srgbClr val="1D4373"/>
                </a:solidFill>
                <a:latin typeface="Aptos" panose="020B0004020202020204" pitchFamily="34" charset="0"/>
              </a:rPr>
              <a:t>Architecture</a:t>
            </a:r>
          </a:p>
        </p:txBody>
      </p:sp>
      <p:sp>
        <p:nvSpPr>
          <p:cNvPr id="418" name="TextBox 417" descr="ArchitectureGenerated">
            <a:extLst>
              <a:ext uri="{FF2B5EF4-FFF2-40B4-BE49-F238E27FC236}">
                <a16:creationId xmlns:a16="http://schemas.microsoft.com/office/drawing/2014/main" id="{BFABF38D-7B38-9896-8005-C66C30924083}"/>
              </a:ext>
            </a:extLst>
          </p:cNvPr>
          <p:cNvSpPr txBox="1"/>
          <p:nvPr/>
        </p:nvSpPr>
        <p:spPr>
          <a:xfrm>
            <a:off x="533400" y="1062166"/>
            <a:ext cx="762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00">
                <a:solidFill>
                  <a:srgbClr val="5A5A5A"/>
                </a:solidFill>
                <a:latin typeface="Aptos" panose="020B0004020202020204" pitchFamily="34" charset="0"/>
              </a:rPr>
              <a:t>Unified customer data, RAG retrieval and AI-powered decision flow</a:t>
            </a:r>
            <a:endParaRPr lang="en-IN" sz="800">
              <a:solidFill>
                <a:srgbClr val="5A5A5A"/>
              </a:solidFill>
              <a:latin typeface="Aptos" panose="020B0004020202020204" pitchFamily="34" charset="0"/>
            </a:endParaRPr>
          </a:p>
        </p:txBody>
      </p:sp>
      <p:cxnSp>
        <p:nvCxnSpPr>
          <p:cNvPr id="419" name="Straight Connector 418" descr="ArchitectureGenerated">
            <a:extLst>
              <a:ext uri="{FF2B5EF4-FFF2-40B4-BE49-F238E27FC236}">
                <a16:creationId xmlns:a16="http://schemas.microsoft.com/office/drawing/2014/main" id="{BB03C263-45FD-D29C-8A27-B0331442F0BE}"/>
              </a:ext>
            </a:extLst>
          </p:cNvPr>
          <p:cNvCxnSpPr/>
          <p:nvPr/>
        </p:nvCxnSpPr>
        <p:spPr>
          <a:xfrm>
            <a:off x="533400" y="1244600"/>
            <a:ext cx="8077200" cy="0"/>
          </a:xfrm>
          <a:prstGeom prst="line">
            <a:avLst/>
          </a:prstGeom>
          <a:ln w="16510">
            <a:solidFill>
              <a:srgbClr val="009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TextBox 419" descr="ArchitectureGenerated">
            <a:extLst>
              <a:ext uri="{FF2B5EF4-FFF2-40B4-BE49-F238E27FC236}">
                <a16:creationId xmlns:a16="http://schemas.microsoft.com/office/drawing/2014/main" id="{4746E09E-9BDA-53CE-812C-227A40AEAC20}"/>
              </a:ext>
            </a:extLst>
          </p:cNvPr>
          <p:cNvSpPr txBox="1"/>
          <p:nvPr/>
        </p:nvSpPr>
        <p:spPr>
          <a:xfrm>
            <a:off x="406400" y="1422400"/>
            <a:ext cx="2032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 dirty="0">
                <a:solidFill>
                  <a:srgbClr val="0096E6"/>
                </a:solidFill>
                <a:latin typeface="Aptos" panose="020B0004020202020204" pitchFamily="34" charset="0"/>
              </a:rPr>
              <a:t>UNSTRUCTURED DATA</a:t>
            </a:r>
          </a:p>
        </p:txBody>
      </p:sp>
      <p:sp>
        <p:nvSpPr>
          <p:cNvPr id="421" name="TextBox 420" descr="ArchitectureGenerated">
            <a:extLst>
              <a:ext uri="{FF2B5EF4-FFF2-40B4-BE49-F238E27FC236}">
                <a16:creationId xmlns:a16="http://schemas.microsoft.com/office/drawing/2014/main" id="{AE6B88EA-9B31-5B17-BF15-A49CC68B35BE}"/>
              </a:ext>
            </a:extLst>
          </p:cNvPr>
          <p:cNvSpPr txBox="1"/>
          <p:nvPr/>
        </p:nvSpPr>
        <p:spPr>
          <a:xfrm>
            <a:off x="3683000" y="1417463"/>
            <a:ext cx="2032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 dirty="0">
                <a:solidFill>
                  <a:srgbClr val="0096E6"/>
                </a:solidFill>
                <a:latin typeface="Aptos" panose="020B0004020202020204" pitchFamily="34" charset="0"/>
              </a:rPr>
              <a:t>RAG PIPELINE</a:t>
            </a:r>
          </a:p>
        </p:txBody>
      </p:sp>
      <p:sp>
        <p:nvSpPr>
          <p:cNvPr id="422" name="TextBox 421" descr="ArchitectureGenerated">
            <a:extLst>
              <a:ext uri="{FF2B5EF4-FFF2-40B4-BE49-F238E27FC236}">
                <a16:creationId xmlns:a16="http://schemas.microsoft.com/office/drawing/2014/main" id="{6AD80F49-64A3-FA8A-AE2A-FFB5B418CCB9}"/>
              </a:ext>
            </a:extLst>
          </p:cNvPr>
          <p:cNvSpPr txBox="1"/>
          <p:nvPr/>
        </p:nvSpPr>
        <p:spPr>
          <a:xfrm>
            <a:off x="6710680" y="1785429"/>
            <a:ext cx="2032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 dirty="0">
                <a:solidFill>
                  <a:srgbClr val="0096E6"/>
                </a:solidFill>
                <a:latin typeface="Aptos" panose="020B0004020202020204" pitchFamily="34" charset="0"/>
              </a:rPr>
              <a:t>AI ORCHESTRATION</a:t>
            </a:r>
          </a:p>
        </p:txBody>
      </p:sp>
      <p:sp>
        <p:nvSpPr>
          <p:cNvPr id="423" name="Rectangle: Rounded Corners 422" descr="ArchitectureGenerated">
            <a:extLst>
              <a:ext uri="{FF2B5EF4-FFF2-40B4-BE49-F238E27FC236}">
                <a16:creationId xmlns:a16="http://schemas.microsoft.com/office/drawing/2014/main" id="{A591A1AB-DBED-39F1-5BD0-225683F5C7D3}"/>
              </a:ext>
            </a:extLst>
          </p:cNvPr>
          <p:cNvSpPr/>
          <p:nvPr/>
        </p:nvSpPr>
        <p:spPr>
          <a:xfrm>
            <a:off x="254000" y="1778000"/>
            <a:ext cx="825500" cy="82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IN" sz="800">
                <a:solidFill>
                  <a:srgbClr val="1D4373"/>
                </a:solidFill>
                <a:latin typeface="Aptos" panose="020B0004020202020204" pitchFamily="34" charset="0"/>
              </a:rPr>
              <a:t>WEBHOOKS</a:t>
            </a:r>
          </a:p>
        </p:txBody>
      </p:sp>
      <p:sp>
        <p:nvSpPr>
          <p:cNvPr id="424" name="TextBox 423" descr="ArchitectureGenerated">
            <a:extLst>
              <a:ext uri="{FF2B5EF4-FFF2-40B4-BE49-F238E27FC236}">
                <a16:creationId xmlns:a16="http://schemas.microsoft.com/office/drawing/2014/main" id="{77501DD8-5F73-1644-923F-D3B75A8C4DCE}"/>
              </a:ext>
            </a:extLst>
          </p:cNvPr>
          <p:cNvSpPr txBox="1"/>
          <p:nvPr/>
        </p:nvSpPr>
        <p:spPr>
          <a:xfrm>
            <a:off x="561976" y="2612353"/>
            <a:ext cx="444500" cy="10002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50" b="1" dirty="0">
                <a:solidFill>
                  <a:srgbClr val="5A5A5A"/>
                </a:solidFill>
                <a:latin typeface="Aptos" panose="020B0004020202020204" pitchFamily="34" charset="0"/>
              </a:rPr>
              <a:t>Mock</a:t>
            </a:r>
          </a:p>
        </p:txBody>
      </p:sp>
      <p:sp>
        <p:nvSpPr>
          <p:cNvPr id="425" name="Rectangle: Rounded Corners 424" descr="ArchitectureGenerated">
            <a:extLst>
              <a:ext uri="{FF2B5EF4-FFF2-40B4-BE49-F238E27FC236}">
                <a16:creationId xmlns:a16="http://schemas.microsoft.com/office/drawing/2014/main" id="{BC83B0D2-F120-5DE4-59E0-E5CE010EFABE}"/>
              </a:ext>
            </a:extLst>
          </p:cNvPr>
          <p:cNvSpPr/>
          <p:nvPr/>
        </p:nvSpPr>
        <p:spPr>
          <a:xfrm>
            <a:off x="1270000" y="1587500"/>
            <a:ext cx="889000" cy="31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IN" sz="800">
                <a:solidFill>
                  <a:srgbClr val="1D4373"/>
                </a:solidFill>
                <a:latin typeface="Aptos" panose="020B0004020202020204" pitchFamily="34" charset="0"/>
              </a:rPr>
              <a:t>Email</a:t>
            </a:r>
          </a:p>
        </p:txBody>
      </p:sp>
      <p:sp>
        <p:nvSpPr>
          <p:cNvPr id="426" name="Rectangle: Rounded Corners 425" descr="ArchitectureGenerated">
            <a:extLst>
              <a:ext uri="{FF2B5EF4-FFF2-40B4-BE49-F238E27FC236}">
                <a16:creationId xmlns:a16="http://schemas.microsoft.com/office/drawing/2014/main" id="{48D82DB1-1A0C-EFBD-404C-AEB71B3A57BC}"/>
              </a:ext>
            </a:extLst>
          </p:cNvPr>
          <p:cNvSpPr/>
          <p:nvPr/>
        </p:nvSpPr>
        <p:spPr>
          <a:xfrm>
            <a:off x="1270000" y="2032000"/>
            <a:ext cx="889000" cy="31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IN" sz="800">
                <a:solidFill>
                  <a:srgbClr val="1D4373"/>
                </a:solidFill>
                <a:latin typeface="Aptos" panose="020B0004020202020204" pitchFamily="34" charset="0"/>
              </a:rPr>
              <a:t>Call</a:t>
            </a:r>
          </a:p>
        </p:txBody>
      </p:sp>
      <p:sp>
        <p:nvSpPr>
          <p:cNvPr id="427" name="Rectangle: Rounded Corners 426" descr="ArchitectureGenerated">
            <a:extLst>
              <a:ext uri="{FF2B5EF4-FFF2-40B4-BE49-F238E27FC236}">
                <a16:creationId xmlns:a16="http://schemas.microsoft.com/office/drawing/2014/main" id="{CFD2FEB3-2293-81FB-9198-D834021503EF}"/>
              </a:ext>
            </a:extLst>
          </p:cNvPr>
          <p:cNvSpPr/>
          <p:nvPr/>
        </p:nvSpPr>
        <p:spPr>
          <a:xfrm>
            <a:off x="1270000" y="2476500"/>
            <a:ext cx="889000" cy="317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IN" sz="800">
                <a:solidFill>
                  <a:srgbClr val="1D4373"/>
                </a:solidFill>
                <a:latin typeface="Aptos" panose="020B0004020202020204" pitchFamily="34" charset="0"/>
              </a:rPr>
              <a:t>Chat</a:t>
            </a:r>
          </a:p>
        </p:txBody>
      </p:sp>
      <p:cxnSp>
        <p:nvCxnSpPr>
          <p:cNvPr id="429" name="Straight Connector 428" descr="ArchitectureGenerated">
            <a:extLst>
              <a:ext uri="{FF2B5EF4-FFF2-40B4-BE49-F238E27FC236}">
                <a16:creationId xmlns:a16="http://schemas.microsoft.com/office/drawing/2014/main" id="{95B70C4A-E34B-8427-01B4-BAFB5A980B45}"/>
              </a:ext>
            </a:extLst>
          </p:cNvPr>
          <p:cNvCxnSpPr/>
          <p:nvPr/>
        </p:nvCxnSpPr>
        <p:spPr>
          <a:xfrm flipV="1">
            <a:off x="1079500" y="1752600"/>
            <a:ext cx="190500" cy="152400"/>
          </a:xfrm>
          <a:prstGeom prst="line">
            <a:avLst/>
          </a:prstGeom>
          <a:ln w="1143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29" descr="ArchitectureGenerated">
            <a:extLst>
              <a:ext uri="{FF2B5EF4-FFF2-40B4-BE49-F238E27FC236}">
                <a16:creationId xmlns:a16="http://schemas.microsoft.com/office/drawing/2014/main" id="{D1FEAF55-86E9-9B1C-612F-E68399016867}"/>
              </a:ext>
            </a:extLst>
          </p:cNvPr>
          <p:cNvCxnSpPr/>
          <p:nvPr/>
        </p:nvCxnSpPr>
        <p:spPr>
          <a:xfrm>
            <a:off x="1079500" y="2184400"/>
            <a:ext cx="190500" cy="0"/>
          </a:xfrm>
          <a:prstGeom prst="line">
            <a:avLst/>
          </a:prstGeom>
          <a:ln w="1143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Connector 430" descr="ArchitectureGenerated">
            <a:extLst>
              <a:ext uri="{FF2B5EF4-FFF2-40B4-BE49-F238E27FC236}">
                <a16:creationId xmlns:a16="http://schemas.microsoft.com/office/drawing/2014/main" id="{A75F33EC-2DFF-DC6C-A3EB-4E25B52D5D8D}"/>
              </a:ext>
            </a:extLst>
          </p:cNvPr>
          <p:cNvCxnSpPr/>
          <p:nvPr/>
        </p:nvCxnSpPr>
        <p:spPr>
          <a:xfrm>
            <a:off x="1079500" y="2413000"/>
            <a:ext cx="190500" cy="215900"/>
          </a:xfrm>
          <a:prstGeom prst="line">
            <a:avLst/>
          </a:prstGeom>
          <a:ln w="1143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2" name="Rectangle: Rounded Corners 431" descr="ArchitectureGenerated">
            <a:extLst>
              <a:ext uri="{FF2B5EF4-FFF2-40B4-BE49-F238E27FC236}">
                <a16:creationId xmlns:a16="http://schemas.microsoft.com/office/drawing/2014/main" id="{9026055C-D90E-D457-36FE-280939C07D46}"/>
              </a:ext>
            </a:extLst>
          </p:cNvPr>
          <p:cNvSpPr/>
          <p:nvPr/>
        </p:nvSpPr>
        <p:spPr>
          <a:xfrm>
            <a:off x="2413000" y="1587500"/>
            <a:ext cx="1460500" cy="1079500"/>
          </a:xfrm>
          <a:prstGeom prst="roundRect">
            <a:avLst>
              <a:gd name="adj" fmla="val 15000"/>
            </a:avLst>
          </a:prstGeom>
          <a:solidFill>
            <a:srgbClr val="F0F8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3" name="TextBox 432" descr="ArchitectureGenerated">
            <a:extLst>
              <a:ext uri="{FF2B5EF4-FFF2-40B4-BE49-F238E27FC236}">
                <a16:creationId xmlns:a16="http://schemas.microsoft.com/office/drawing/2014/main" id="{12D5CF2F-8516-6EF0-2C9A-3AEEAFAB881B}"/>
              </a:ext>
            </a:extLst>
          </p:cNvPr>
          <p:cNvSpPr txBox="1"/>
          <p:nvPr/>
        </p:nvSpPr>
        <p:spPr>
          <a:xfrm>
            <a:off x="2565400" y="1786066"/>
            <a:ext cx="1168400" cy="1200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80" b="1">
                <a:solidFill>
                  <a:srgbClr val="1D4373"/>
                </a:solidFill>
                <a:latin typeface="Aptos" panose="020B0004020202020204" pitchFamily="34" charset="0"/>
              </a:rPr>
              <a:t>DATA PROCESSING</a:t>
            </a:r>
          </a:p>
        </p:txBody>
      </p:sp>
      <p:sp>
        <p:nvSpPr>
          <p:cNvPr id="434" name="TextBox 433" descr="ArchitectureGenerated">
            <a:extLst>
              <a:ext uri="{FF2B5EF4-FFF2-40B4-BE49-F238E27FC236}">
                <a16:creationId xmlns:a16="http://schemas.microsoft.com/office/drawing/2014/main" id="{E29691B4-73D8-603F-FDBF-7EFE65D86AE7}"/>
              </a:ext>
            </a:extLst>
          </p:cNvPr>
          <p:cNvSpPr txBox="1"/>
          <p:nvPr/>
        </p:nvSpPr>
        <p:spPr>
          <a:xfrm>
            <a:off x="2565400" y="2116266"/>
            <a:ext cx="1143000" cy="3139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80">
                <a:solidFill>
                  <a:srgbClr val="5A5A5A"/>
                </a:solidFill>
                <a:latin typeface="Aptos" panose="020B0004020202020204" pitchFamily="34" charset="0"/>
              </a:rPr>
              <a:t>Semantic normalization</a:t>
            </a:r>
          </a:p>
          <a:p>
            <a:r>
              <a:rPr lang="en-IN" sz="680">
                <a:solidFill>
                  <a:srgbClr val="5A5A5A"/>
                </a:solidFill>
                <a:latin typeface="Aptos" panose="020B0004020202020204" pitchFamily="34" charset="0"/>
              </a:rPr>
              <a:t>Canonicalization</a:t>
            </a:r>
          </a:p>
          <a:p>
            <a:r>
              <a:rPr lang="en-IN" sz="680">
                <a:solidFill>
                  <a:srgbClr val="5A5A5A"/>
                </a:solidFill>
                <a:latin typeface="Aptos" panose="020B0004020202020204" pitchFamily="34" charset="0"/>
              </a:rPr>
              <a:t>Structuring</a:t>
            </a:r>
          </a:p>
        </p:txBody>
      </p:sp>
      <p:cxnSp>
        <p:nvCxnSpPr>
          <p:cNvPr id="435" name="Straight Connector 434" descr="ArchitectureGenerated">
            <a:extLst>
              <a:ext uri="{FF2B5EF4-FFF2-40B4-BE49-F238E27FC236}">
                <a16:creationId xmlns:a16="http://schemas.microsoft.com/office/drawing/2014/main" id="{11616776-3253-0781-27C4-C08818EB2016}"/>
              </a:ext>
            </a:extLst>
          </p:cNvPr>
          <p:cNvCxnSpPr/>
          <p:nvPr/>
        </p:nvCxnSpPr>
        <p:spPr>
          <a:xfrm>
            <a:off x="2159000" y="1752600"/>
            <a:ext cx="254000" cy="88900"/>
          </a:xfrm>
          <a:prstGeom prst="line">
            <a:avLst/>
          </a:prstGeom>
          <a:ln w="1143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35" descr="ArchitectureGenerated">
            <a:extLst>
              <a:ext uri="{FF2B5EF4-FFF2-40B4-BE49-F238E27FC236}">
                <a16:creationId xmlns:a16="http://schemas.microsoft.com/office/drawing/2014/main" id="{87F6124C-1435-EFFF-7243-5CC69A5413D7}"/>
              </a:ext>
            </a:extLst>
          </p:cNvPr>
          <p:cNvCxnSpPr/>
          <p:nvPr/>
        </p:nvCxnSpPr>
        <p:spPr>
          <a:xfrm flipV="1">
            <a:off x="2159000" y="2133600"/>
            <a:ext cx="254000" cy="50800"/>
          </a:xfrm>
          <a:prstGeom prst="line">
            <a:avLst/>
          </a:prstGeom>
          <a:ln w="1143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Connector 436" descr="ArchitectureGenerated">
            <a:extLst>
              <a:ext uri="{FF2B5EF4-FFF2-40B4-BE49-F238E27FC236}">
                <a16:creationId xmlns:a16="http://schemas.microsoft.com/office/drawing/2014/main" id="{8199E513-0D9E-040D-76E7-5DFD71BB3DFE}"/>
              </a:ext>
            </a:extLst>
          </p:cNvPr>
          <p:cNvCxnSpPr/>
          <p:nvPr/>
        </p:nvCxnSpPr>
        <p:spPr>
          <a:xfrm flipV="1">
            <a:off x="2159000" y="2413000"/>
            <a:ext cx="254000" cy="215900"/>
          </a:xfrm>
          <a:prstGeom prst="line">
            <a:avLst/>
          </a:prstGeom>
          <a:ln w="1143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Rectangle: Rounded Corners 437" descr="ArchitectureGenerated">
            <a:extLst>
              <a:ext uri="{FF2B5EF4-FFF2-40B4-BE49-F238E27FC236}">
                <a16:creationId xmlns:a16="http://schemas.microsoft.com/office/drawing/2014/main" id="{2968D436-1AAB-7700-0FF2-5E04E176463E}"/>
              </a:ext>
            </a:extLst>
          </p:cNvPr>
          <p:cNvSpPr/>
          <p:nvPr/>
        </p:nvSpPr>
        <p:spPr>
          <a:xfrm>
            <a:off x="4127500" y="1587500"/>
            <a:ext cx="1524000" cy="1079500"/>
          </a:xfrm>
          <a:prstGeom prst="roundRect">
            <a:avLst>
              <a:gd name="adj" fmla="val 15000"/>
            </a:avLst>
          </a:prstGeom>
          <a:solidFill>
            <a:srgbClr val="F0F8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9" name="TextBox 438" descr="ArchitectureGenerated">
            <a:extLst>
              <a:ext uri="{FF2B5EF4-FFF2-40B4-BE49-F238E27FC236}">
                <a16:creationId xmlns:a16="http://schemas.microsoft.com/office/drawing/2014/main" id="{FC17AD38-433E-457F-4787-D877976A7353}"/>
              </a:ext>
            </a:extLst>
          </p:cNvPr>
          <p:cNvSpPr txBox="1"/>
          <p:nvPr/>
        </p:nvSpPr>
        <p:spPr>
          <a:xfrm>
            <a:off x="4279900" y="1786066"/>
            <a:ext cx="1244600" cy="1138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40" b="1">
                <a:solidFill>
                  <a:srgbClr val="1D4373"/>
                </a:solidFill>
                <a:latin typeface="Aptos" panose="020B0004020202020204" pitchFamily="34" charset="0"/>
              </a:rPr>
              <a:t>RAG DATA INGESTION</a:t>
            </a:r>
          </a:p>
        </p:txBody>
      </p:sp>
      <p:sp>
        <p:nvSpPr>
          <p:cNvPr id="440" name="TextBox 439" descr="ArchitectureGenerated">
            <a:extLst>
              <a:ext uri="{FF2B5EF4-FFF2-40B4-BE49-F238E27FC236}">
                <a16:creationId xmlns:a16="http://schemas.microsoft.com/office/drawing/2014/main" id="{6E549D09-9796-AABC-A80F-444FCD079352}"/>
              </a:ext>
            </a:extLst>
          </p:cNvPr>
          <p:cNvSpPr txBox="1"/>
          <p:nvPr/>
        </p:nvSpPr>
        <p:spPr>
          <a:xfrm>
            <a:off x="4292600" y="2116266"/>
            <a:ext cx="1206500" cy="3139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80">
                <a:solidFill>
                  <a:srgbClr val="5A5A5A"/>
                </a:solidFill>
                <a:latin typeface="Aptos" panose="020B0004020202020204" pitchFamily="34" charset="0"/>
              </a:rPr>
              <a:t>Chunking</a:t>
            </a:r>
          </a:p>
          <a:p>
            <a:r>
              <a:rPr lang="en-IN" sz="680">
                <a:solidFill>
                  <a:srgbClr val="5A5A5A"/>
                </a:solidFill>
                <a:latin typeface="Aptos" panose="020B0004020202020204" pitchFamily="34" charset="0"/>
              </a:rPr>
              <a:t>Metadata enrichment</a:t>
            </a:r>
          </a:p>
          <a:p>
            <a:r>
              <a:rPr lang="en-IN" sz="680">
                <a:solidFill>
                  <a:srgbClr val="5A5A5A"/>
                </a:solidFill>
                <a:latin typeface="Aptos" panose="020B0004020202020204" pitchFamily="34" charset="0"/>
              </a:rPr>
              <a:t>Embedding generation</a:t>
            </a:r>
          </a:p>
        </p:txBody>
      </p:sp>
      <p:cxnSp>
        <p:nvCxnSpPr>
          <p:cNvPr id="441" name="Straight Connector 440" descr="ArchitectureGenerated">
            <a:extLst>
              <a:ext uri="{FF2B5EF4-FFF2-40B4-BE49-F238E27FC236}">
                <a16:creationId xmlns:a16="http://schemas.microsoft.com/office/drawing/2014/main" id="{B86CC1E7-06EA-C688-B7BA-DA5B0CD2048F}"/>
              </a:ext>
            </a:extLst>
          </p:cNvPr>
          <p:cNvCxnSpPr/>
          <p:nvPr/>
        </p:nvCxnSpPr>
        <p:spPr>
          <a:xfrm>
            <a:off x="3873500" y="2133600"/>
            <a:ext cx="254000" cy="0"/>
          </a:xfrm>
          <a:prstGeom prst="line">
            <a:avLst/>
          </a:prstGeom>
          <a:ln w="1270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Cylinder 441" descr="ArchitectureGenerated">
            <a:extLst>
              <a:ext uri="{FF2B5EF4-FFF2-40B4-BE49-F238E27FC236}">
                <a16:creationId xmlns:a16="http://schemas.microsoft.com/office/drawing/2014/main" id="{585F0BBC-9387-E439-655F-C6EF5ECB2BD5}"/>
              </a:ext>
            </a:extLst>
          </p:cNvPr>
          <p:cNvSpPr/>
          <p:nvPr/>
        </p:nvSpPr>
        <p:spPr>
          <a:xfrm>
            <a:off x="4445000" y="2857500"/>
            <a:ext cx="952500" cy="635000"/>
          </a:xfrm>
          <a:prstGeom prst="can">
            <a:avLst/>
          </a:prstGeom>
          <a:solidFill>
            <a:srgbClr val="F0F8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IN" sz="800" b="1">
                <a:solidFill>
                  <a:srgbClr val="1D4373"/>
                </a:solidFill>
                <a:latin typeface="Aptos" panose="020B0004020202020204" pitchFamily="34" charset="0"/>
              </a:rPr>
              <a:t>KB</a:t>
            </a:r>
          </a:p>
        </p:txBody>
      </p:sp>
      <p:sp>
        <p:nvSpPr>
          <p:cNvPr id="443" name="TextBox 442" descr="ArchitectureGenerated">
            <a:extLst>
              <a:ext uri="{FF2B5EF4-FFF2-40B4-BE49-F238E27FC236}">
                <a16:creationId xmlns:a16="http://schemas.microsoft.com/office/drawing/2014/main" id="{BC2BFC70-AAAB-85B3-C1EB-E81804573D85}"/>
              </a:ext>
            </a:extLst>
          </p:cNvPr>
          <p:cNvSpPr txBox="1"/>
          <p:nvPr/>
        </p:nvSpPr>
        <p:spPr>
          <a:xfrm>
            <a:off x="4603750" y="3504054"/>
            <a:ext cx="1206500" cy="9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30" b="1" dirty="0">
                <a:solidFill>
                  <a:srgbClr val="5A5A5A"/>
                </a:solidFill>
                <a:latin typeface="Aptos" panose="020B0004020202020204" pitchFamily="34" charset="0"/>
              </a:rPr>
              <a:t>Knowledge Base</a:t>
            </a:r>
          </a:p>
        </p:txBody>
      </p:sp>
      <p:cxnSp>
        <p:nvCxnSpPr>
          <p:cNvPr id="444" name="Straight Connector 443" descr="ArchitectureGenerated">
            <a:extLst>
              <a:ext uri="{FF2B5EF4-FFF2-40B4-BE49-F238E27FC236}">
                <a16:creationId xmlns:a16="http://schemas.microsoft.com/office/drawing/2014/main" id="{B5D6F68E-F7B1-6C88-0550-156B575B3C71}"/>
              </a:ext>
            </a:extLst>
          </p:cNvPr>
          <p:cNvCxnSpPr/>
          <p:nvPr/>
        </p:nvCxnSpPr>
        <p:spPr>
          <a:xfrm>
            <a:off x="4889500" y="2667000"/>
            <a:ext cx="0" cy="190500"/>
          </a:xfrm>
          <a:prstGeom prst="line">
            <a:avLst/>
          </a:prstGeom>
          <a:ln w="1270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5" name="Rectangle: Rounded Corners 444" descr="ArchitectureGenerated">
            <a:extLst>
              <a:ext uri="{FF2B5EF4-FFF2-40B4-BE49-F238E27FC236}">
                <a16:creationId xmlns:a16="http://schemas.microsoft.com/office/drawing/2014/main" id="{3008FB06-F36F-9373-8116-263ABF666842}"/>
              </a:ext>
            </a:extLst>
          </p:cNvPr>
          <p:cNvSpPr/>
          <p:nvPr/>
        </p:nvSpPr>
        <p:spPr>
          <a:xfrm>
            <a:off x="6350000" y="1905000"/>
            <a:ext cx="1778000" cy="1079500"/>
          </a:xfrm>
          <a:prstGeom prst="roundRect">
            <a:avLst>
              <a:gd name="adj" fmla="val 15000"/>
            </a:avLst>
          </a:prstGeom>
          <a:solidFill>
            <a:srgbClr val="F0F8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6" name="TextBox 445" descr="ArchitectureGenerated">
            <a:extLst>
              <a:ext uri="{FF2B5EF4-FFF2-40B4-BE49-F238E27FC236}">
                <a16:creationId xmlns:a16="http://schemas.microsoft.com/office/drawing/2014/main" id="{0A922DB9-D19A-3286-6EA0-F62273419A1C}"/>
              </a:ext>
            </a:extLst>
          </p:cNvPr>
          <p:cNvSpPr txBox="1"/>
          <p:nvPr/>
        </p:nvSpPr>
        <p:spPr>
          <a:xfrm>
            <a:off x="6515100" y="2078166"/>
            <a:ext cx="1397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850" b="1">
                <a:solidFill>
                  <a:srgbClr val="1D4373"/>
                </a:solidFill>
                <a:latin typeface="Aptos" panose="020B0004020202020204" pitchFamily="34" charset="0"/>
              </a:rPr>
              <a:t>AI WORKER</a:t>
            </a:r>
          </a:p>
        </p:txBody>
      </p:sp>
      <p:sp>
        <p:nvSpPr>
          <p:cNvPr id="447" name="TextBox 446" descr="ArchitectureGenerated">
            <a:extLst>
              <a:ext uri="{FF2B5EF4-FFF2-40B4-BE49-F238E27FC236}">
                <a16:creationId xmlns:a16="http://schemas.microsoft.com/office/drawing/2014/main" id="{7E150407-F945-B93D-49BB-6E30EFA51A45}"/>
              </a:ext>
            </a:extLst>
          </p:cNvPr>
          <p:cNvSpPr txBox="1"/>
          <p:nvPr/>
        </p:nvSpPr>
        <p:spPr>
          <a:xfrm>
            <a:off x="6515100" y="2408366"/>
            <a:ext cx="1460500" cy="3139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80">
                <a:solidFill>
                  <a:srgbClr val="5A5A5A"/>
                </a:solidFill>
                <a:latin typeface="Aptos" panose="020B0004020202020204" pitchFamily="34" charset="0"/>
              </a:rPr>
              <a:t>RAG context retrieval</a:t>
            </a:r>
          </a:p>
          <a:p>
            <a:r>
              <a:rPr lang="en-IN" sz="680">
                <a:solidFill>
                  <a:srgbClr val="5A5A5A"/>
                </a:solidFill>
                <a:latin typeface="Aptos" panose="020B0004020202020204" pitchFamily="34" charset="0"/>
              </a:rPr>
              <a:t>Sentiment &amp; emotion analysis</a:t>
            </a:r>
          </a:p>
          <a:p>
            <a:r>
              <a:rPr lang="en-IN" sz="680">
                <a:solidFill>
                  <a:srgbClr val="5A5A5A"/>
                </a:solidFill>
                <a:latin typeface="Aptos" panose="020B0004020202020204" pitchFamily="34" charset="0"/>
              </a:rPr>
              <a:t>Next Best Action</a:t>
            </a:r>
          </a:p>
        </p:txBody>
      </p:sp>
      <p:cxnSp>
        <p:nvCxnSpPr>
          <p:cNvPr id="448" name="Straight Connector 447" descr="ArchitectureGenerated">
            <a:extLst>
              <a:ext uri="{FF2B5EF4-FFF2-40B4-BE49-F238E27FC236}">
                <a16:creationId xmlns:a16="http://schemas.microsoft.com/office/drawing/2014/main" id="{13874538-C986-EB4C-A358-03911B9202E2}"/>
              </a:ext>
            </a:extLst>
          </p:cNvPr>
          <p:cNvCxnSpPr/>
          <p:nvPr/>
        </p:nvCxnSpPr>
        <p:spPr>
          <a:xfrm flipV="1">
            <a:off x="5397500" y="2476500"/>
            <a:ext cx="952500" cy="698500"/>
          </a:xfrm>
          <a:prstGeom prst="line">
            <a:avLst/>
          </a:prstGeom>
          <a:ln w="1397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TextBox 448" descr="ArchitectureGenerated">
            <a:extLst>
              <a:ext uri="{FF2B5EF4-FFF2-40B4-BE49-F238E27FC236}">
                <a16:creationId xmlns:a16="http://schemas.microsoft.com/office/drawing/2014/main" id="{CD2C0D63-7FD2-647D-32D3-04B3FE67FE91}"/>
              </a:ext>
            </a:extLst>
          </p:cNvPr>
          <p:cNvSpPr txBox="1"/>
          <p:nvPr/>
        </p:nvSpPr>
        <p:spPr>
          <a:xfrm rot="19411328">
            <a:off x="5544535" y="2604644"/>
            <a:ext cx="952500" cy="9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30" b="1" dirty="0">
                <a:solidFill>
                  <a:srgbClr val="1D4373"/>
                </a:solidFill>
                <a:latin typeface="Aptos" panose="020B0004020202020204" pitchFamily="34" charset="0"/>
              </a:rPr>
              <a:t>RAG retrieval</a:t>
            </a:r>
          </a:p>
        </p:txBody>
      </p:sp>
      <p:sp>
        <p:nvSpPr>
          <p:cNvPr id="450" name="Cylinder 449" descr="ArchitectureGenerated">
            <a:extLst>
              <a:ext uri="{FF2B5EF4-FFF2-40B4-BE49-F238E27FC236}">
                <a16:creationId xmlns:a16="http://schemas.microsoft.com/office/drawing/2014/main" id="{E672717E-602F-BC03-4F1D-A4418A6F9F95}"/>
              </a:ext>
            </a:extLst>
          </p:cNvPr>
          <p:cNvSpPr/>
          <p:nvPr/>
        </p:nvSpPr>
        <p:spPr>
          <a:xfrm>
            <a:off x="8290560" y="1533257"/>
            <a:ext cx="609600" cy="482600"/>
          </a:xfrm>
          <a:prstGeom prst="can">
            <a:avLst/>
          </a:prstGeom>
          <a:solidFill>
            <a:srgbClr val="FFFF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IN" sz="800" b="1" dirty="0">
                <a:solidFill>
                  <a:srgbClr val="1D4373"/>
                </a:solidFill>
                <a:latin typeface="Aptos" panose="020B0004020202020204" pitchFamily="34" charset="0"/>
              </a:rPr>
              <a:t>DB</a:t>
            </a:r>
          </a:p>
        </p:txBody>
      </p:sp>
      <p:sp>
        <p:nvSpPr>
          <p:cNvPr id="451" name="TextBox 450" descr="ArchitectureGenerated">
            <a:extLst>
              <a:ext uri="{FF2B5EF4-FFF2-40B4-BE49-F238E27FC236}">
                <a16:creationId xmlns:a16="http://schemas.microsoft.com/office/drawing/2014/main" id="{C11658B6-CC4C-77ED-7452-BED2785D9D34}"/>
              </a:ext>
            </a:extLst>
          </p:cNvPr>
          <p:cNvSpPr txBox="1"/>
          <p:nvPr/>
        </p:nvSpPr>
        <p:spPr>
          <a:xfrm>
            <a:off x="8928118" y="1728460"/>
            <a:ext cx="406400" cy="9387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10" b="1" dirty="0">
                <a:solidFill>
                  <a:srgbClr val="5A5A5A"/>
                </a:solidFill>
                <a:latin typeface="Aptos" panose="020B0004020202020204" pitchFamily="34" charset="0"/>
              </a:rPr>
              <a:t>Mock</a:t>
            </a:r>
          </a:p>
        </p:txBody>
      </p:sp>
      <p:sp>
        <p:nvSpPr>
          <p:cNvPr id="452" name="TextBox 451" descr="ArchitectureGenerated">
            <a:extLst>
              <a:ext uri="{FF2B5EF4-FFF2-40B4-BE49-F238E27FC236}">
                <a16:creationId xmlns:a16="http://schemas.microsoft.com/office/drawing/2014/main" id="{701C0206-515F-BAF2-3EC5-2D060C1D82EA}"/>
              </a:ext>
            </a:extLst>
          </p:cNvPr>
          <p:cNvSpPr txBox="1"/>
          <p:nvPr/>
        </p:nvSpPr>
        <p:spPr>
          <a:xfrm>
            <a:off x="8293118" y="2014588"/>
            <a:ext cx="1270000" cy="1877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10" dirty="0">
                <a:solidFill>
                  <a:srgbClr val="5A5A5A"/>
                </a:solidFill>
                <a:latin typeface="Aptos" panose="020B0004020202020204" pitchFamily="34" charset="0"/>
              </a:rPr>
              <a:t>Customer / Policy</a:t>
            </a:r>
          </a:p>
          <a:p>
            <a:r>
              <a:rPr lang="en-IN" sz="610" dirty="0">
                <a:solidFill>
                  <a:srgbClr val="5A5A5A"/>
                </a:solidFill>
                <a:latin typeface="Aptos" panose="020B0004020202020204" pitchFamily="34" charset="0"/>
              </a:rPr>
              <a:t>Transactions / KPIs</a:t>
            </a:r>
          </a:p>
        </p:txBody>
      </p:sp>
      <p:cxnSp>
        <p:nvCxnSpPr>
          <p:cNvPr id="453" name="Straight Connector 452" descr="ArchitectureGenerated">
            <a:extLst>
              <a:ext uri="{FF2B5EF4-FFF2-40B4-BE49-F238E27FC236}">
                <a16:creationId xmlns:a16="http://schemas.microsoft.com/office/drawing/2014/main" id="{729237CA-B770-7F88-1B3D-AB3F2581739C}"/>
              </a:ext>
            </a:extLst>
          </p:cNvPr>
          <p:cNvCxnSpPr>
            <a:cxnSpLocks/>
            <a:stCxn id="450" idx="2"/>
          </p:cNvCxnSpPr>
          <p:nvPr/>
        </p:nvCxnSpPr>
        <p:spPr>
          <a:xfrm flipH="1">
            <a:off x="8064500" y="1774557"/>
            <a:ext cx="226060" cy="149688"/>
          </a:xfrm>
          <a:prstGeom prst="line">
            <a:avLst/>
          </a:prstGeom>
          <a:ln w="12700">
            <a:solidFill>
              <a:srgbClr val="1D43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 descr="ArchitectureGenerated">
            <a:extLst>
              <a:ext uri="{FF2B5EF4-FFF2-40B4-BE49-F238E27FC236}">
                <a16:creationId xmlns:a16="http://schemas.microsoft.com/office/drawing/2014/main" id="{CE22E138-BAA7-7A5E-784B-F1AE06BB3905}"/>
              </a:ext>
            </a:extLst>
          </p:cNvPr>
          <p:cNvSpPr txBox="1"/>
          <p:nvPr/>
        </p:nvSpPr>
        <p:spPr>
          <a:xfrm>
            <a:off x="8290560" y="1400965"/>
            <a:ext cx="889000" cy="9387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10" dirty="0">
                <a:solidFill>
                  <a:srgbClr val="5A5A5A"/>
                </a:solidFill>
                <a:latin typeface="Aptos" panose="020B0004020202020204" pitchFamily="34" charset="0"/>
              </a:rPr>
              <a:t>Customer context</a:t>
            </a:r>
          </a:p>
        </p:txBody>
      </p:sp>
      <p:sp>
        <p:nvSpPr>
          <p:cNvPr id="455" name="Rectangle: Rounded Corners 454" descr="ArchitectureGenerated">
            <a:extLst>
              <a:ext uri="{FF2B5EF4-FFF2-40B4-BE49-F238E27FC236}">
                <a16:creationId xmlns:a16="http://schemas.microsoft.com/office/drawing/2014/main" id="{F2DF4F17-8293-CB5E-180C-348546843CF0}"/>
              </a:ext>
            </a:extLst>
          </p:cNvPr>
          <p:cNvSpPr/>
          <p:nvPr/>
        </p:nvSpPr>
        <p:spPr>
          <a:xfrm>
            <a:off x="6985000" y="3175000"/>
            <a:ext cx="1143000" cy="406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IN" sz="800">
                <a:solidFill>
                  <a:srgbClr val="1D4373"/>
                </a:solidFill>
                <a:latin typeface="Aptos" panose="020B0004020202020204" pitchFamily="34" charset="0"/>
              </a:rPr>
              <a:t>LLM Memory</a:t>
            </a:r>
          </a:p>
        </p:txBody>
      </p:sp>
      <p:cxnSp>
        <p:nvCxnSpPr>
          <p:cNvPr id="456" name="Straight Connector 455" descr="ArchitectureGenerated">
            <a:extLst>
              <a:ext uri="{FF2B5EF4-FFF2-40B4-BE49-F238E27FC236}">
                <a16:creationId xmlns:a16="http://schemas.microsoft.com/office/drawing/2014/main" id="{F24522AF-5A98-DC40-332E-4F2074E77944}"/>
              </a:ext>
            </a:extLst>
          </p:cNvPr>
          <p:cNvCxnSpPr/>
          <p:nvPr/>
        </p:nvCxnSpPr>
        <p:spPr>
          <a:xfrm flipV="1">
            <a:off x="7556500" y="2984500"/>
            <a:ext cx="0" cy="190500"/>
          </a:xfrm>
          <a:prstGeom prst="line">
            <a:avLst/>
          </a:prstGeom>
          <a:ln w="11430">
            <a:solidFill>
              <a:srgbClr val="1D43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 descr="ArchitectureGenerated">
            <a:extLst>
              <a:ext uri="{FF2B5EF4-FFF2-40B4-BE49-F238E27FC236}">
                <a16:creationId xmlns:a16="http://schemas.microsoft.com/office/drawing/2014/main" id="{5688884E-85A3-A30F-477C-1E921893F79E}"/>
              </a:ext>
            </a:extLst>
          </p:cNvPr>
          <p:cNvSpPr txBox="1"/>
          <p:nvPr/>
        </p:nvSpPr>
        <p:spPr>
          <a:xfrm>
            <a:off x="6985000" y="3652966"/>
            <a:ext cx="1143000" cy="9387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10">
                <a:solidFill>
                  <a:srgbClr val="5A5A5A"/>
                </a:solidFill>
                <a:latin typeface="Aptos" panose="020B0004020202020204" pitchFamily="34" charset="0"/>
              </a:rPr>
              <a:t>Conversation memory</a:t>
            </a:r>
          </a:p>
        </p:txBody>
      </p:sp>
      <p:sp>
        <p:nvSpPr>
          <p:cNvPr id="458" name="Rectangle: Rounded Corners 457" descr="ArchitectureGenerated">
            <a:extLst>
              <a:ext uri="{FF2B5EF4-FFF2-40B4-BE49-F238E27FC236}">
                <a16:creationId xmlns:a16="http://schemas.microsoft.com/office/drawing/2014/main" id="{F4E0A714-F108-4B12-FEC7-00E2F480E111}"/>
              </a:ext>
            </a:extLst>
          </p:cNvPr>
          <p:cNvSpPr/>
          <p:nvPr/>
        </p:nvSpPr>
        <p:spPr>
          <a:xfrm>
            <a:off x="1270000" y="3746500"/>
            <a:ext cx="1143000" cy="482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IN" sz="800">
                <a:solidFill>
                  <a:srgbClr val="1D4373"/>
                </a:solidFill>
                <a:latin typeface="Aptos" panose="020B0004020202020204" pitchFamily="34" charset="0"/>
              </a:rPr>
              <a:t>Frontend</a:t>
            </a:r>
          </a:p>
        </p:txBody>
      </p:sp>
      <p:sp>
        <p:nvSpPr>
          <p:cNvPr id="459" name="Rectangle: Rounded Corners 458" descr="ArchitectureGenerated">
            <a:extLst>
              <a:ext uri="{FF2B5EF4-FFF2-40B4-BE49-F238E27FC236}">
                <a16:creationId xmlns:a16="http://schemas.microsoft.com/office/drawing/2014/main" id="{A08CAE79-0CC3-682B-FB91-B4C04046F9E3}"/>
              </a:ext>
            </a:extLst>
          </p:cNvPr>
          <p:cNvSpPr/>
          <p:nvPr/>
        </p:nvSpPr>
        <p:spPr>
          <a:xfrm>
            <a:off x="2794000" y="3746500"/>
            <a:ext cx="1270000" cy="482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IN" sz="800">
                <a:solidFill>
                  <a:srgbClr val="1D4373"/>
                </a:solidFill>
                <a:latin typeface="Aptos" panose="020B0004020202020204" pitchFamily="34" charset="0"/>
              </a:rPr>
              <a:t>Backend</a:t>
            </a:r>
          </a:p>
        </p:txBody>
      </p:sp>
      <p:cxnSp>
        <p:nvCxnSpPr>
          <p:cNvPr id="460" name="Straight Connector 459" descr="ArchitectureGenerated">
            <a:extLst>
              <a:ext uri="{FF2B5EF4-FFF2-40B4-BE49-F238E27FC236}">
                <a16:creationId xmlns:a16="http://schemas.microsoft.com/office/drawing/2014/main" id="{56FDF209-ABC6-258C-75A7-EBB0C45D78A0}"/>
              </a:ext>
            </a:extLst>
          </p:cNvPr>
          <p:cNvCxnSpPr/>
          <p:nvPr/>
        </p:nvCxnSpPr>
        <p:spPr>
          <a:xfrm>
            <a:off x="2413000" y="3987800"/>
            <a:ext cx="381000" cy="0"/>
          </a:xfrm>
          <a:prstGeom prst="line">
            <a:avLst/>
          </a:prstGeom>
          <a:ln w="13970">
            <a:solidFill>
              <a:srgbClr val="1D43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 descr="ArchitectureGenerated">
            <a:extLst>
              <a:ext uri="{FF2B5EF4-FFF2-40B4-BE49-F238E27FC236}">
                <a16:creationId xmlns:a16="http://schemas.microsoft.com/office/drawing/2014/main" id="{B6A6B44E-65A3-8C1E-573A-04FF704E0DFA}"/>
              </a:ext>
            </a:extLst>
          </p:cNvPr>
          <p:cNvSpPr txBox="1"/>
          <p:nvPr/>
        </p:nvSpPr>
        <p:spPr>
          <a:xfrm>
            <a:off x="2381251" y="3645649"/>
            <a:ext cx="889000" cy="10002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50" b="1" dirty="0">
                <a:solidFill>
                  <a:srgbClr val="1D4373"/>
                </a:solidFill>
                <a:latin typeface="Aptos" panose="020B0004020202020204" pitchFamily="34" charset="0"/>
              </a:rPr>
              <a:t>REST + SSE</a:t>
            </a:r>
          </a:p>
        </p:txBody>
      </p:sp>
      <p:sp>
        <p:nvSpPr>
          <p:cNvPr id="462" name="Rectangle: Rounded Corners 461" descr="ArchitectureGenerated">
            <a:extLst>
              <a:ext uri="{FF2B5EF4-FFF2-40B4-BE49-F238E27FC236}">
                <a16:creationId xmlns:a16="http://schemas.microsoft.com/office/drawing/2014/main" id="{F795671E-CF02-0BD3-1D42-741200474B40}"/>
              </a:ext>
            </a:extLst>
          </p:cNvPr>
          <p:cNvSpPr/>
          <p:nvPr/>
        </p:nvSpPr>
        <p:spPr>
          <a:xfrm>
            <a:off x="5524500" y="3746500"/>
            <a:ext cx="1270000" cy="482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D4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IN" sz="800">
                <a:solidFill>
                  <a:srgbClr val="1D4373"/>
                </a:solidFill>
                <a:latin typeface="Aptos" panose="020B0004020202020204" pitchFamily="34" charset="0"/>
              </a:rPr>
              <a:t>Redis Stream</a:t>
            </a:r>
          </a:p>
        </p:txBody>
      </p:sp>
      <p:cxnSp>
        <p:nvCxnSpPr>
          <p:cNvPr id="463" name="Straight Connector 462" descr="ArchitectureGenerated">
            <a:extLst>
              <a:ext uri="{FF2B5EF4-FFF2-40B4-BE49-F238E27FC236}">
                <a16:creationId xmlns:a16="http://schemas.microsoft.com/office/drawing/2014/main" id="{4C59DBBF-2551-F3D7-CE7A-C9C37FCDD05E}"/>
              </a:ext>
            </a:extLst>
          </p:cNvPr>
          <p:cNvCxnSpPr/>
          <p:nvPr/>
        </p:nvCxnSpPr>
        <p:spPr>
          <a:xfrm>
            <a:off x="4064000" y="3987800"/>
            <a:ext cx="1460500" cy="0"/>
          </a:xfrm>
          <a:prstGeom prst="line">
            <a:avLst/>
          </a:prstGeom>
          <a:ln w="1270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TextBox 463" descr="ArchitectureGenerated">
            <a:extLst>
              <a:ext uri="{FF2B5EF4-FFF2-40B4-BE49-F238E27FC236}">
                <a16:creationId xmlns:a16="http://schemas.microsoft.com/office/drawing/2014/main" id="{DFF81B9C-15E3-E7E3-A5A7-9501686C4FC7}"/>
              </a:ext>
            </a:extLst>
          </p:cNvPr>
          <p:cNvSpPr txBox="1"/>
          <p:nvPr/>
        </p:nvSpPr>
        <p:spPr>
          <a:xfrm>
            <a:off x="4603750" y="3885422"/>
            <a:ext cx="825500" cy="9387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10">
                <a:solidFill>
                  <a:srgbClr val="5A5A5A"/>
                </a:solidFill>
                <a:latin typeface="Aptos" panose="020B0004020202020204" pitchFamily="34" charset="0"/>
              </a:rPr>
              <a:t>Submit job</a:t>
            </a:r>
          </a:p>
        </p:txBody>
      </p:sp>
      <p:cxnSp>
        <p:nvCxnSpPr>
          <p:cNvPr id="465" name="Straight Connector 464" descr="ArchitectureGenerated">
            <a:extLst>
              <a:ext uri="{FF2B5EF4-FFF2-40B4-BE49-F238E27FC236}">
                <a16:creationId xmlns:a16="http://schemas.microsoft.com/office/drawing/2014/main" id="{BD19A648-E250-194B-F98E-A6FEAB6D2AD1}"/>
              </a:ext>
            </a:extLst>
          </p:cNvPr>
          <p:cNvCxnSpPr/>
          <p:nvPr/>
        </p:nvCxnSpPr>
        <p:spPr>
          <a:xfrm flipV="1">
            <a:off x="6159500" y="3111500"/>
            <a:ext cx="0" cy="635000"/>
          </a:xfrm>
          <a:prstGeom prst="line">
            <a:avLst/>
          </a:prstGeom>
          <a:ln w="12700">
            <a:solidFill>
              <a:srgbClr val="009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 descr="ArchitectureGenerated">
            <a:extLst>
              <a:ext uri="{FF2B5EF4-FFF2-40B4-BE49-F238E27FC236}">
                <a16:creationId xmlns:a16="http://schemas.microsoft.com/office/drawing/2014/main" id="{B5ECDFF0-3D7F-DA44-DC46-8BE55B0661A4}"/>
              </a:ext>
            </a:extLst>
          </p:cNvPr>
          <p:cNvCxnSpPr/>
          <p:nvPr/>
        </p:nvCxnSpPr>
        <p:spPr>
          <a:xfrm flipV="1">
            <a:off x="6159500" y="2984500"/>
            <a:ext cx="444500" cy="127000"/>
          </a:xfrm>
          <a:prstGeom prst="line">
            <a:avLst/>
          </a:prstGeom>
          <a:ln w="1270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TextBox 466" descr="ArchitectureGenerated">
            <a:extLst>
              <a:ext uri="{FF2B5EF4-FFF2-40B4-BE49-F238E27FC236}">
                <a16:creationId xmlns:a16="http://schemas.microsoft.com/office/drawing/2014/main" id="{264B810B-4744-9802-7174-F1191D83ECED}"/>
              </a:ext>
            </a:extLst>
          </p:cNvPr>
          <p:cNvSpPr txBox="1"/>
          <p:nvPr/>
        </p:nvSpPr>
        <p:spPr>
          <a:xfrm>
            <a:off x="6223000" y="3348166"/>
            <a:ext cx="698500" cy="9387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10">
                <a:solidFill>
                  <a:srgbClr val="5A5A5A"/>
                </a:solidFill>
                <a:latin typeface="Aptos" panose="020B0004020202020204" pitchFamily="34" charset="0"/>
              </a:rPr>
              <a:t>Async job</a:t>
            </a:r>
          </a:p>
        </p:txBody>
      </p:sp>
      <p:cxnSp>
        <p:nvCxnSpPr>
          <p:cNvPr id="468" name="Straight Connector 467" descr="ArchitectureGenerated">
            <a:extLst>
              <a:ext uri="{FF2B5EF4-FFF2-40B4-BE49-F238E27FC236}">
                <a16:creationId xmlns:a16="http://schemas.microsoft.com/office/drawing/2014/main" id="{12785D1B-EF2D-939D-79B6-4EA02EE16D43}"/>
              </a:ext>
            </a:extLst>
          </p:cNvPr>
          <p:cNvCxnSpPr/>
          <p:nvPr/>
        </p:nvCxnSpPr>
        <p:spPr>
          <a:xfrm>
            <a:off x="8128000" y="2730500"/>
            <a:ext cx="190500" cy="0"/>
          </a:xfrm>
          <a:prstGeom prst="line">
            <a:avLst/>
          </a:prstGeom>
          <a:ln w="13970">
            <a:solidFill>
              <a:srgbClr val="2D7D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Connector 468" descr="ArchitectureGenerated">
            <a:extLst>
              <a:ext uri="{FF2B5EF4-FFF2-40B4-BE49-F238E27FC236}">
                <a16:creationId xmlns:a16="http://schemas.microsoft.com/office/drawing/2014/main" id="{6958CDA6-A340-5C7E-A9C2-7935FC559FB1}"/>
              </a:ext>
            </a:extLst>
          </p:cNvPr>
          <p:cNvCxnSpPr/>
          <p:nvPr/>
        </p:nvCxnSpPr>
        <p:spPr>
          <a:xfrm>
            <a:off x="8318500" y="2730500"/>
            <a:ext cx="0" cy="1714500"/>
          </a:xfrm>
          <a:prstGeom prst="line">
            <a:avLst/>
          </a:prstGeom>
          <a:ln w="13970">
            <a:solidFill>
              <a:srgbClr val="2D7D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 descr="ArchitectureGenerated">
            <a:extLst>
              <a:ext uri="{FF2B5EF4-FFF2-40B4-BE49-F238E27FC236}">
                <a16:creationId xmlns:a16="http://schemas.microsoft.com/office/drawing/2014/main" id="{A524D405-E900-F25B-C8B6-53388BE9300D}"/>
              </a:ext>
            </a:extLst>
          </p:cNvPr>
          <p:cNvCxnSpPr/>
          <p:nvPr/>
        </p:nvCxnSpPr>
        <p:spPr>
          <a:xfrm flipH="1">
            <a:off x="3429000" y="4445000"/>
            <a:ext cx="4889500" cy="0"/>
          </a:xfrm>
          <a:prstGeom prst="line">
            <a:avLst/>
          </a:prstGeom>
          <a:ln w="13970">
            <a:solidFill>
              <a:srgbClr val="2D7D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 descr="ArchitectureGenerated">
            <a:extLst>
              <a:ext uri="{FF2B5EF4-FFF2-40B4-BE49-F238E27FC236}">
                <a16:creationId xmlns:a16="http://schemas.microsoft.com/office/drawing/2014/main" id="{EB259E45-3AD6-AC61-0DF2-DCFC100F9580}"/>
              </a:ext>
            </a:extLst>
          </p:cNvPr>
          <p:cNvCxnSpPr/>
          <p:nvPr/>
        </p:nvCxnSpPr>
        <p:spPr>
          <a:xfrm flipV="1">
            <a:off x="3429000" y="4229100"/>
            <a:ext cx="0" cy="215900"/>
          </a:xfrm>
          <a:prstGeom prst="line">
            <a:avLst/>
          </a:prstGeom>
          <a:ln w="13970">
            <a:solidFill>
              <a:srgbClr val="2D7D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TextBox 471" descr="ArchitectureGenerated">
            <a:extLst>
              <a:ext uri="{FF2B5EF4-FFF2-40B4-BE49-F238E27FC236}">
                <a16:creationId xmlns:a16="http://schemas.microsoft.com/office/drawing/2014/main" id="{D5DD965B-829E-4372-F5C2-9EBB1E97A007}"/>
              </a:ext>
            </a:extLst>
          </p:cNvPr>
          <p:cNvSpPr txBox="1"/>
          <p:nvPr/>
        </p:nvSpPr>
        <p:spPr>
          <a:xfrm>
            <a:off x="6350000" y="4344354"/>
            <a:ext cx="1524000" cy="9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30" b="1" dirty="0">
                <a:solidFill>
                  <a:srgbClr val="2D7D4B"/>
                </a:solidFill>
                <a:latin typeface="Aptos" panose="020B0004020202020204" pitchFamily="34" charset="0"/>
              </a:rPr>
              <a:t>POST callback / webhook</a:t>
            </a:r>
          </a:p>
        </p:txBody>
      </p:sp>
      <p:sp>
        <p:nvSpPr>
          <p:cNvPr id="473" name="TextBox 472" descr="ArchitectureGenerated">
            <a:extLst>
              <a:ext uri="{FF2B5EF4-FFF2-40B4-BE49-F238E27FC236}">
                <a16:creationId xmlns:a16="http://schemas.microsoft.com/office/drawing/2014/main" id="{7CAEDD92-E486-CAD0-6780-CE9385B2CC07}"/>
              </a:ext>
            </a:extLst>
          </p:cNvPr>
          <p:cNvSpPr txBox="1"/>
          <p:nvPr/>
        </p:nvSpPr>
        <p:spPr>
          <a:xfrm>
            <a:off x="1333500" y="4288575"/>
            <a:ext cx="1587500" cy="96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630" b="1" dirty="0">
                <a:solidFill>
                  <a:srgbClr val="5A5A5A"/>
                </a:solidFill>
                <a:latin typeface="Aptos" panose="020B0004020202020204" pitchFamily="34" charset="0"/>
              </a:rPr>
              <a:t>All demo inputs are mocked</a:t>
            </a:r>
            <a:endParaRPr lang="en-IN" sz="630" b="1" dirty="0">
              <a:solidFill>
                <a:srgbClr val="5A5A5A"/>
              </a:solidFill>
              <a:latin typeface="Aptos" panose="020B0004020202020204" pitchFamily="34" charset="0"/>
            </a:endParaRPr>
          </a:p>
        </p:txBody>
      </p:sp>
      <p:cxnSp>
        <p:nvCxnSpPr>
          <p:cNvPr id="474" name="Straight Connector 473" descr="ArchitectureGenerated">
            <a:extLst>
              <a:ext uri="{FF2B5EF4-FFF2-40B4-BE49-F238E27FC236}">
                <a16:creationId xmlns:a16="http://schemas.microsoft.com/office/drawing/2014/main" id="{97420610-D783-0ECA-E98D-69EF113F17AC}"/>
              </a:ext>
            </a:extLst>
          </p:cNvPr>
          <p:cNvCxnSpPr/>
          <p:nvPr/>
        </p:nvCxnSpPr>
        <p:spPr>
          <a:xfrm>
            <a:off x="317500" y="4572000"/>
            <a:ext cx="8509000" cy="0"/>
          </a:xfrm>
          <a:prstGeom prst="line">
            <a:avLst/>
          </a:prstGeom>
          <a:ln w="1016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5" name="TextBox 474" descr="ArchitectureGenerated">
            <a:extLst>
              <a:ext uri="{FF2B5EF4-FFF2-40B4-BE49-F238E27FC236}">
                <a16:creationId xmlns:a16="http://schemas.microsoft.com/office/drawing/2014/main" id="{B9A4BA14-2F06-0F0D-0DF9-E016D8D65F6D}"/>
              </a:ext>
            </a:extLst>
          </p:cNvPr>
          <p:cNvSpPr txBox="1"/>
          <p:nvPr/>
        </p:nvSpPr>
        <p:spPr>
          <a:xfrm>
            <a:off x="317500" y="4719766"/>
            <a:ext cx="1143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191919"/>
                </a:solidFill>
                <a:latin typeface="Aptos" panose="020B0004020202020204" pitchFamily="34" charset="0"/>
              </a:rPr>
              <a:t>CoCo CLI SKILLS</a:t>
            </a:r>
          </a:p>
        </p:txBody>
      </p:sp>
      <p:sp>
        <p:nvSpPr>
          <p:cNvPr id="476" name="TextBox 475" descr="ArchitectureGenerated">
            <a:extLst>
              <a:ext uri="{FF2B5EF4-FFF2-40B4-BE49-F238E27FC236}">
                <a16:creationId xmlns:a16="http://schemas.microsoft.com/office/drawing/2014/main" id="{B4DF0B43-539F-0609-9F64-D0A8A7A38A77}"/>
              </a:ext>
            </a:extLst>
          </p:cNvPr>
          <p:cNvSpPr txBox="1"/>
          <p:nvPr/>
        </p:nvSpPr>
        <p:spPr>
          <a:xfrm>
            <a:off x="1524000" y="4719766"/>
            <a:ext cx="1905000" cy="10002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50" b="1">
                <a:solidFill>
                  <a:srgbClr val="1D4373"/>
                </a:solidFill>
                <a:latin typeface="Aptos" panose="020B0004020202020204" pitchFamily="34" charset="0"/>
              </a:rPr>
              <a:t>Semantic Model &amp; Ontology Authoring</a:t>
            </a:r>
          </a:p>
        </p:txBody>
      </p:sp>
      <p:cxnSp>
        <p:nvCxnSpPr>
          <p:cNvPr id="477" name="Straight Connector 476" descr="ArchitectureGenerated">
            <a:extLst>
              <a:ext uri="{FF2B5EF4-FFF2-40B4-BE49-F238E27FC236}">
                <a16:creationId xmlns:a16="http://schemas.microsoft.com/office/drawing/2014/main" id="{81298CE9-A3FF-CC9F-A9B2-A5BB8E806F99}"/>
              </a:ext>
            </a:extLst>
          </p:cNvPr>
          <p:cNvCxnSpPr/>
          <p:nvPr/>
        </p:nvCxnSpPr>
        <p:spPr>
          <a:xfrm>
            <a:off x="3492500" y="4762500"/>
            <a:ext cx="190500" cy="0"/>
          </a:xfrm>
          <a:prstGeom prst="line">
            <a:avLst/>
          </a:prstGeom>
          <a:ln w="1016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8" name="TextBox 477" descr="ArchitectureGenerated">
            <a:extLst>
              <a:ext uri="{FF2B5EF4-FFF2-40B4-BE49-F238E27FC236}">
                <a16:creationId xmlns:a16="http://schemas.microsoft.com/office/drawing/2014/main" id="{F48E0962-FE53-E996-B79B-3E01BF168265}"/>
              </a:ext>
            </a:extLst>
          </p:cNvPr>
          <p:cNvSpPr txBox="1"/>
          <p:nvPr/>
        </p:nvSpPr>
        <p:spPr>
          <a:xfrm>
            <a:off x="3810000" y="4719766"/>
            <a:ext cx="1587500" cy="10002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50" b="1">
                <a:solidFill>
                  <a:srgbClr val="1D4373"/>
                </a:solidFill>
                <a:latin typeface="Aptos" panose="020B0004020202020204" pitchFamily="34" charset="0"/>
              </a:rPr>
              <a:t>Synthetic Data Generation</a:t>
            </a:r>
          </a:p>
        </p:txBody>
      </p:sp>
      <p:cxnSp>
        <p:nvCxnSpPr>
          <p:cNvPr id="479" name="Straight Connector 478" descr="ArchitectureGenerated">
            <a:extLst>
              <a:ext uri="{FF2B5EF4-FFF2-40B4-BE49-F238E27FC236}">
                <a16:creationId xmlns:a16="http://schemas.microsoft.com/office/drawing/2014/main" id="{B58A2C3F-C65A-A353-2AA4-BEC7766FE00D}"/>
              </a:ext>
            </a:extLst>
          </p:cNvPr>
          <p:cNvCxnSpPr/>
          <p:nvPr/>
        </p:nvCxnSpPr>
        <p:spPr>
          <a:xfrm>
            <a:off x="5461000" y="4762500"/>
            <a:ext cx="190500" cy="0"/>
          </a:xfrm>
          <a:prstGeom prst="line">
            <a:avLst/>
          </a:prstGeom>
          <a:ln w="1016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TextBox 479" descr="ArchitectureGenerated">
            <a:extLst>
              <a:ext uri="{FF2B5EF4-FFF2-40B4-BE49-F238E27FC236}">
                <a16:creationId xmlns:a16="http://schemas.microsoft.com/office/drawing/2014/main" id="{B98D0BD6-B8C5-5AED-5C1D-B4606D24CB96}"/>
              </a:ext>
            </a:extLst>
          </p:cNvPr>
          <p:cNvSpPr txBox="1"/>
          <p:nvPr/>
        </p:nvSpPr>
        <p:spPr>
          <a:xfrm>
            <a:off x="5778500" y="4719766"/>
            <a:ext cx="1460500" cy="10002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50" b="1">
                <a:solidFill>
                  <a:srgbClr val="1D4373"/>
                </a:solidFill>
                <a:latin typeface="Aptos" panose="020B0004020202020204" pitchFamily="34" charset="0"/>
              </a:rPr>
              <a:t>Pipeline Orchestration</a:t>
            </a:r>
          </a:p>
        </p:txBody>
      </p:sp>
      <p:cxnSp>
        <p:nvCxnSpPr>
          <p:cNvPr id="481" name="Straight Connector 480" descr="ArchitectureGenerated">
            <a:extLst>
              <a:ext uri="{FF2B5EF4-FFF2-40B4-BE49-F238E27FC236}">
                <a16:creationId xmlns:a16="http://schemas.microsoft.com/office/drawing/2014/main" id="{3A87A890-78CB-F9E6-AA66-75B57A7BCE39}"/>
              </a:ext>
            </a:extLst>
          </p:cNvPr>
          <p:cNvCxnSpPr/>
          <p:nvPr/>
        </p:nvCxnSpPr>
        <p:spPr>
          <a:xfrm>
            <a:off x="7239000" y="4762500"/>
            <a:ext cx="190500" cy="0"/>
          </a:xfrm>
          <a:prstGeom prst="line">
            <a:avLst/>
          </a:prstGeom>
          <a:ln w="10160">
            <a:solidFill>
              <a:srgbClr val="0096E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2" name="TextBox 481" descr="ArchitectureGenerated">
            <a:extLst>
              <a:ext uri="{FF2B5EF4-FFF2-40B4-BE49-F238E27FC236}">
                <a16:creationId xmlns:a16="http://schemas.microsoft.com/office/drawing/2014/main" id="{9EEF1FFC-4209-BA31-B30D-57A0BC946F3D}"/>
              </a:ext>
            </a:extLst>
          </p:cNvPr>
          <p:cNvSpPr txBox="1"/>
          <p:nvPr/>
        </p:nvSpPr>
        <p:spPr>
          <a:xfrm>
            <a:off x="7556500" y="4719766"/>
            <a:ext cx="1270000" cy="10002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650" b="1">
                <a:solidFill>
                  <a:srgbClr val="1D4373"/>
                </a:solidFill>
                <a:latin typeface="Aptos" panose="020B0004020202020204" pitchFamily="34" charset="0"/>
              </a:rPr>
              <a:t>Application Scaffolding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3471D5FF-0318-20A3-3952-4BE00BEF5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>
            <a:extLst>
              <a:ext uri="{FF2B5EF4-FFF2-40B4-BE49-F238E27FC236}">
                <a16:creationId xmlns:a16="http://schemas.microsoft.com/office/drawing/2014/main" id="{5CC24CD2-714D-D3D1-559D-78D264F585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TextBox 151" descr="ImpactStatementGenerated">
            <a:extLst>
              <a:ext uri="{FF2B5EF4-FFF2-40B4-BE49-F238E27FC236}">
                <a16:creationId xmlns:a16="http://schemas.microsoft.com/office/drawing/2014/main" id="{B956E083-A4CA-17D8-9360-C47C3BD158EA}"/>
              </a:ext>
            </a:extLst>
          </p:cNvPr>
          <p:cNvSpPr txBox="1"/>
          <p:nvPr/>
        </p:nvSpPr>
        <p:spPr>
          <a:xfrm>
            <a:off x="533400" y="770066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1800" b="1">
                <a:solidFill>
                  <a:srgbClr val="191919"/>
                </a:solidFill>
                <a:latin typeface="Aptos" panose="020B0004020202020204" pitchFamily="34" charset="0"/>
              </a:rPr>
              <a:t>Impact Statement</a:t>
            </a:r>
          </a:p>
        </p:txBody>
      </p:sp>
      <p:sp>
        <p:nvSpPr>
          <p:cNvPr id="153" name="TextBox 152" descr="ImpactStatementGenerated">
            <a:extLst>
              <a:ext uri="{FF2B5EF4-FFF2-40B4-BE49-F238E27FC236}">
                <a16:creationId xmlns:a16="http://schemas.microsoft.com/office/drawing/2014/main" id="{80FA0F2C-CA26-7CB0-10E1-412394A779D3}"/>
              </a:ext>
            </a:extLst>
          </p:cNvPr>
          <p:cNvSpPr txBox="1"/>
          <p:nvPr/>
        </p:nvSpPr>
        <p:spPr>
          <a:xfrm>
            <a:off x="533400" y="1062166"/>
            <a:ext cx="762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00">
                <a:solidFill>
                  <a:srgbClr val="555555"/>
                </a:solidFill>
                <a:latin typeface="Aptos" panose="020B0004020202020204" pitchFamily="34" charset="0"/>
              </a:rPr>
              <a:t>Measurable value today. Scalable beyond the demo</a:t>
            </a:r>
            <a:endParaRPr lang="en-IN" sz="80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cxnSp>
        <p:nvCxnSpPr>
          <p:cNvPr id="154" name="Straight Connector 153" descr="ImpactStatementGenerated">
            <a:extLst>
              <a:ext uri="{FF2B5EF4-FFF2-40B4-BE49-F238E27FC236}">
                <a16:creationId xmlns:a16="http://schemas.microsoft.com/office/drawing/2014/main" id="{280B77B4-BBA3-A3BB-3D43-A1B9CB73158A}"/>
              </a:ext>
            </a:extLst>
          </p:cNvPr>
          <p:cNvCxnSpPr/>
          <p:nvPr/>
        </p:nvCxnSpPr>
        <p:spPr>
          <a:xfrm>
            <a:off x="533400" y="1244600"/>
            <a:ext cx="8077200" cy="0"/>
          </a:xfrm>
          <a:prstGeom prst="line">
            <a:avLst/>
          </a:prstGeom>
          <a:ln w="16510">
            <a:solidFill>
              <a:srgbClr val="009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 descr="ImpactStatementGenerated">
            <a:extLst>
              <a:ext uri="{FF2B5EF4-FFF2-40B4-BE49-F238E27FC236}">
                <a16:creationId xmlns:a16="http://schemas.microsoft.com/office/drawing/2014/main" id="{6CF2D567-F8DE-238B-73C1-847F6408C4B3}"/>
              </a:ext>
            </a:extLst>
          </p:cNvPr>
          <p:cNvSpPr txBox="1"/>
          <p:nvPr/>
        </p:nvSpPr>
        <p:spPr>
          <a:xfrm>
            <a:off x="533400" y="1417766"/>
            <a:ext cx="3810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0096E6"/>
                </a:solidFill>
                <a:latin typeface="Aptos" panose="020B0004020202020204" pitchFamily="34" charset="0"/>
              </a:rPr>
              <a:t>01  MEASURABLE OUTCOMES</a:t>
            </a:r>
          </a:p>
        </p:txBody>
      </p:sp>
      <p:sp>
        <p:nvSpPr>
          <p:cNvPr id="156" name="Oval 155" descr="ImpactStatementGenerated">
            <a:extLst>
              <a:ext uri="{FF2B5EF4-FFF2-40B4-BE49-F238E27FC236}">
                <a16:creationId xmlns:a16="http://schemas.microsoft.com/office/drawing/2014/main" id="{72AF6200-1E85-ACE1-C7A4-8D3BCCB5EDC7}"/>
              </a:ext>
            </a:extLst>
          </p:cNvPr>
          <p:cNvSpPr/>
          <p:nvPr/>
        </p:nvSpPr>
        <p:spPr>
          <a:xfrm>
            <a:off x="533400" y="16891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TextBox 156" descr="ImpactStatementGenerated">
            <a:extLst>
              <a:ext uri="{FF2B5EF4-FFF2-40B4-BE49-F238E27FC236}">
                <a16:creationId xmlns:a16="http://schemas.microsoft.com/office/drawing/2014/main" id="{ED2E937B-2CD3-D140-7830-3D17387E4C03}"/>
              </a:ext>
            </a:extLst>
          </p:cNvPr>
          <p:cNvSpPr txBox="1"/>
          <p:nvPr/>
        </p:nvSpPr>
        <p:spPr>
          <a:xfrm>
            <a:off x="660400" y="167176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 b="1" dirty="0">
                <a:solidFill>
                  <a:srgbClr val="005087"/>
                </a:solidFill>
                <a:latin typeface="Aptos" panose="020B0004020202020204" pitchFamily="34" charset="0"/>
              </a:rPr>
              <a:t>~90% LESS SEARCH TIME</a:t>
            </a:r>
          </a:p>
        </p:txBody>
      </p:sp>
      <p:sp>
        <p:nvSpPr>
          <p:cNvPr id="158" name="TextBox 157" descr="ImpactStatementGenerated">
            <a:extLst>
              <a:ext uri="{FF2B5EF4-FFF2-40B4-BE49-F238E27FC236}">
                <a16:creationId xmlns:a16="http://schemas.microsoft.com/office/drawing/2014/main" id="{39E43881-7ED8-E418-D364-570C87770EB5}"/>
              </a:ext>
            </a:extLst>
          </p:cNvPr>
          <p:cNvSpPr txBox="1"/>
          <p:nvPr/>
        </p:nvSpPr>
        <p:spPr>
          <a:xfrm>
            <a:off x="2438400" y="165906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>
                <a:solidFill>
                  <a:srgbClr val="555555"/>
                </a:solidFill>
                <a:latin typeface="Aptos" panose="020B0004020202020204" pitchFamily="34" charset="0"/>
              </a:rPr>
              <a:t>Consolidates customer, policy and interaction context into one workflow.</a:t>
            </a:r>
            <a:endParaRPr lang="en-IN" sz="71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59" name="Oval 158" descr="ImpactStatementGenerated">
            <a:extLst>
              <a:ext uri="{FF2B5EF4-FFF2-40B4-BE49-F238E27FC236}">
                <a16:creationId xmlns:a16="http://schemas.microsoft.com/office/drawing/2014/main" id="{3297E6EB-7983-D968-98BE-16579492B844}"/>
              </a:ext>
            </a:extLst>
          </p:cNvPr>
          <p:cNvSpPr/>
          <p:nvPr/>
        </p:nvSpPr>
        <p:spPr>
          <a:xfrm>
            <a:off x="533400" y="20955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TextBox 159" descr="ImpactStatementGenerated">
            <a:extLst>
              <a:ext uri="{FF2B5EF4-FFF2-40B4-BE49-F238E27FC236}">
                <a16:creationId xmlns:a16="http://schemas.microsoft.com/office/drawing/2014/main" id="{80270EBC-6B23-9E29-5C2E-6C45C625B514}"/>
              </a:ext>
            </a:extLst>
          </p:cNvPr>
          <p:cNvSpPr txBox="1"/>
          <p:nvPr/>
        </p:nvSpPr>
        <p:spPr>
          <a:xfrm>
            <a:off x="660400" y="207816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 b="1" dirty="0">
                <a:solidFill>
                  <a:srgbClr val="005087"/>
                </a:solidFill>
                <a:latin typeface="Aptos" panose="020B0004020202020204" pitchFamily="34" charset="0"/>
              </a:rPr>
              <a:t>&lt;5 SEC TO NEXT BEST ACTION</a:t>
            </a:r>
            <a:endParaRPr lang="en-IN" sz="710" b="1" dirty="0">
              <a:solidFill>
                <a:srgbClr val="005087"/>
              </a:solidFill>
              <a:latin typeface="Aptos" panose="020B0004020202020204" pitchFamily="34" charset="0"/>
            </a:endParaRPr>
          </a:p>
        </p:txBody>
      </p:sp>
      <p:sp>
        <p:nvSpPr>
          <p:cNvPr id="161" name="TextBox 160" descr="ImpactStatementGenerated">
            <a:extLst>
              <a:ext uri="{FF2B5EF4-FFF2-40B4-BE49-F238E27FC236}">
                <a16:creationId xmlns:a16="http://schemas.microsoft.com/office/drawing/2014/main" id="{48DED53E-9A38-C3D6-9969-C3CBB8CADCC8}"/>
              </a:ext>
            </a:extLst>
          </p:cNvPr>
          <p:cNvSpPr txBox="1"/>
          <p:nvPr/>
        </p:nvSpPr>
        <p:spPr>
          <a:xfrm>
            <a:off x="2438400" y="206546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>
                <a:solidFill>
                  <a:srgbClr val="555555"/>
                </a:solidFill>
                <a:latin typeface="Aptos" panose="020B0004020202020204" pitchFamily="34" charset="0"/>
              </a:rPr>
              <a:t>Retrieves relevant context and generates a personalized recommendation.</a:t>
            </a:r>
            <a:endParaRPr lang="en-IN" sz="71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62" name="Oval 161" descr="ImpactStatementGenerated">
            <a:extLst>
              <a:ext uri="{FF2B5EF4-FFF2-40B4-BE49-F238E27FC236}">
                <a16:creationId xmlns:a16="http://schemas.microsoft.com/office/drawing/2014/main" id="{160039DA-FEC2-1D23-063B-02B25AF594FB}"/>
              </a:ext>
            </a:extLst>
          </p:cNvPr>
          <p:cNvSpPr/>
          <p:nvPr/>
        </p:nvSpPr>
        <p:spPr>
          <a:xfrm>
            <a:off x="533400" y="25019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TextBox 162" descr="ImpactStatementGenerated">
            <a:extLst>
              <a:ext uri="{FF2B5EF4-FFF2-40B4-BE49-F238E27FC236}">
                <a16:creationId xmlns:a16="http://schemas.microsoft.com/office/drawing/2014/main" id="{2C8225DD-60FD-4E12-2284-F8C65BB94E47}"/>
              </a:ext>
            </a:extLst>
          </p:cNvPr>
          <p:cNvSpPr txBox="1"/>
          <p:nvPr/>
        </p:nvSpPr>
        <p:spPr>
          <a:xfrm>
            <a:off x="660400" y="248456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 b="1">
                <a:solidFill>
                  <a:srgbClr val="005087"/>
                </a:solidFill>
                <a:latin typeface="Aptos" panose="020B0004020202020204" pitchFamily="34" charset="0"/>
              </a:rPr>
              <a:t>SENTIMENT-DRIVEN PRIORITIZATION</a:t>
            </a:r>
          </a:p>
        </p:txBody>
      </p:sp>
      <p:sp>
        <p:nvSpPr>
          <p:cNvPr id="164" name="TextBox 163" descr="ImpactStatementGenerated">
            <a:extLst>
              <a:ext uri="{FF2B5EF4-FFF2-40B4-BE49-F238E27FC236}">
                <a16:creationId xmlns:a16="http://schemas.microsoft.com/office/drawing/2014/main" id="{D9CC7E13-3197-B916-F709-F4D87501DC28}"/>
              </a:ext>
            </a:extLst>
          </p:cNvPr>
          <p:cNvSpPr txBox="1"/>
          <p:nvPr/>
        </p:nvSpPr>
        <p:spPr>
          <a:xfrm>
            <a:off x="2438400" y="247186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>
                <a:solidFill>
                  <a:srgbClr val="555555"/>
                </a:solidFill>
                <a:latin typeface="Aptos" panose="020B0004020202020204" pitchFamily="34" charset="0"/>
              </a:rPr>
              <a:t>Identifies interested, uncertain, dissatisfied or disengaged customers.</a:t>
            </a:r>
            <a:endParaRPr lang="en-IN" sz="71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65" name="TextBox 164" descr="ImpactStatementGenerated">
            <a:extLst>
              <a:ext uri="{FF2B5EF4-FFF2-40B4-BE49-F238E27FC236}">
                <a16:creationId xmlns:a16="http://schemas.microsoft.com/office/drawing/2014/main" id="{E5CC39BA-1704-1727-BE00-10D7DD299B0E}"/>
              </a:ext>
            </a:extLst>
          </p:cNvPr>
          <p:cNvSpPr txBox="1"/>
          <p:nvPr/>
        </p:nvSpPr>
        <p:spPr>
          <a:xfrm>
            <a:off x="4635500" y="1417766"/>
            <a:ext cx="3810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0096E6"/>
                </a:solidFill>
                <a:latin typeface="Aptos" panose="020B0004020202020204" pitchFamily="34" charset="0"/>
              </a:rPr>
              <a:t>02  SCALABILITY POTENTIAL</a:t>
            </a:r>
          </a:p>
        </p:txBody>
      </p:sp>
      <p:sp>
        <p:nvSpPr>
          <p:cNvPr id="166" name="Oval 165" descr="ImpactStatementGenerated">
            <a:extLst>
              <a:ext uri="{FF2B5EF4-FFF2-40B4-BE49-F238E27FC236}">
                <a16:creationId xmlns:a16="http://schemas.microsoft.com/office/drawing/2014/main" id="{0923CDA0-3627-6707-9DBE-45F298DB70C3}"/>
              </a:ext>
            </a:extLst>
          </p:cNvPr>
          <p:cNvSpPr/>
          <p:nvPr/>
        </p:nvSpPr>
        <p:spPr>
          <a:xfrm>
            <a:off x="4635500" y="16891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7" name="TextBox 166" descr="ImpactStatementGenerated">
            <a:extLst>
              <a:ext uri="{FF2B5EF4-FFF2-40B4-BE49-F238E27FC236}">
                <a16:creationId xmlns:a16="http://schemas.microsoft.com/office/drawing/2014/main" id="{3E02C56B-738F-D3EB-8660-7397BE3B918F}"/>
              </a:ext>
            </a:extLst>
          </p:cNvPr>
          <p:cNvSpPr txBox="1"/>
          <p:nvPr/>
        </p:nvSpPr>
        <p:spPr>
          <a:xfrm>
            <a:off x="4762500" y="167176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 b="1">
                <a:solidFill>
                  <a:srgbClr val="005087"/>
                </a:solidFill>
                <a:latin typeface="Aptos" panose="020B0004020202020204" pitchFamily="34" charset="0"/>
              </a:rPr>
              <a:t>SPCS READY</a:t>
            </a:r>
          </a:p>
        </p:txBody>
      </p:sp>
      <p:sp>
        <p:nvSpPr>
          <p:cNvPr id="168" name="TextBox 167" descr="ImpactStatementGenerated">
            <a:extLst>
              <a:ext uri="{FF2B5EF4-FFF2-40B4-BE49-F238E27FC236}">
                <a16:creationId xmlns:a16="http://schemas.microsoft.com/office/drawing/2014/main" id="{2096B471-0734-5352-BAB2-D09B1BDD6ADE}"/>
              </a:ext>
            </a:extLst>
          </p:cNvPr>
          <p:cNvSpPr txBox="1"/>
          <p:nvPr/>
        </p:nvSpPr>
        <p:spPr>
          <a:xfrm>
            <a:off x="6540500" y="165906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>
                <a:solidFill>
                  <a:srgbClr val="555555"/>
                </a:solidFill>
                <a:latin typeface="Aptos" panose="020B0004020202020204" pitchFamily="34" charset="0"/>
              </a:rPr>
              <a:t>Containerized architecture scales with customer and interaction volume.</a:t>
            </a:r>
            <a:endParaRPr lang="en-IN" sz="71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69" name="Oval 168" descr="ImpactStatementGenerated">
            <a:extLst>
              <a:ext uri="{FF2B5EF4-FFF2-40B4-BE49-F238E27FC236}">
                <a16:creationId xmlns:a16="http://schemas.microsoft.com/office/drawing/2014/main" id="{745EE2AE-77A6-C7EC-92F1-5CB48EC2073C}"/>
              </a:ext>
            </a:extLst>
          </p:cNvPr>
          <p:cNvSpPr/>
          <p:nvPr/>
        </p:nvSpPr>
        <p:spPr>
          <a:xfrm>
            <a:off x="4635500" y="20955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0" name="TextBox 169" descr="ImpactStatementGenerated">
            <a:extLst>
              <a:ext uri="{FF2B5EF4-FFF2-40B4-BE49-F238E27FC236}">
                <a16:creationId xmlns:a16="http://schemas.microsoft.com/office/drawing/2014/main" id="{8026EF9C-12A9-BC34-6D65-10A3F482371C}"/>
              </a:ext>
            </a:extLst>
          </p:cNvPr>
          <p:cNvSpPr txBox="1"/>
          <p:nvPr/>
        </p:nvSpPr>
        <p:spPr>
          <a:xfrm>
            <a:off x="4762500" y="207816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 b="1">
                <a:solidFill>
                  <a:srgbClr val="005087"/>
                </a:solidFill>
                <a:latin typeface="Aptos" panose="020B0004020202020204" pitchFamily="34" charset="0"/>
              </a:rPr>
              <a:t>MODULAR AI WORKERS</a:t>
            </a:r>
          </a:p>
        </p:txBody>
      </p:sp>
      <p:sp>
        <p:nvSpPr>
          <p:cNvPr id="171" name="TextBox 170" descr="ImpactStatementGenerated">
            <a:extLst>
              <a:ext uri="{FF2B5EF4-FFF2-40B4-BE49-F238E27FC236}">
                <a16:creationId xmlns:a16="http://schemas.microsoft.com/office/drawing/2014/main" id="{A0E771E0-3C3C-75D0-03C3-764A286A1314}"/>
              </a:ext>
            </a:extLst>
          </p:cNvPr>
          <p:cNvSpPr txBox="1"/>
          <p:nvPr/>
        </p:nvSpPr>
        <p:spPr>
          <a:xfrm>
            <a:off x="6540500" y="206546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>
                <a:solidFill>
                  <a:srgbClr val="555555"/>
                </a:solidFill>
                <a:latin typeface="Aptos" panose="020B0004020202020204" pitchFamily="34" charset="0"/>
              </a:rPr>
              <a:t>Specialized workers can be added independently for different workflows.</a:t>
            </a:r>
            <a:endParaRPr lang="en-IN" sz="71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72" name="Oval 171" descr="ImpactStatementGenerated">
            <a:extLst>
              <a:ext uri="{FF2B5EF4-FFF2-40B4-BE49-F238E27FC236}">
                <a16:creationId xmlns:a16="http://schemas.microsoft.com/office/drawing/2014/main" id="{F2397013-B70C-20DE-2413-AEA2A91DAA59}"/>
              </a:ext>
            </a:extLst>
          </p:cNvPr>
          <p:cNvSpPr/>
          <p:nvPr/>
        </p:nvSpPr>
        <p:spPr>
          <a:xfrm>
            <a:off x="4635500" y="25019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3" name="TextBox 172" descr="ImpactStatementGenerated">
            <a:extLst>
              <a:ext uri="{FF2B5EF4-FFF2-40B4-BE49-F238E27FC236}">
                <a16:creationId xmlns:a16="http://schemas.microsoft.com/office/drawing/2014/main" id="{787F9CAC-0ED6-FC11-71A7-AEED4D929BBB}"/>
              </a:ext>
            </a:extLst>
          </p:cNvPr>
          <p:cNvSpPr txBox="1"/>
          <p:nvPr/>
        </p:nvSpPr>
        <p:spPr>
          <a:xfrm>
            <a:off x="4762500" y="248456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 b="1">
                <a:solidFill>
                  <a:srgbClr val="005087"/>
                </a:solidFill>
                <a:latin typeface="Aptos" panose="020B0004020202020204" pitchFamily="34" charset="0"/>
              </a:rPr>
              <a:t>STRUCTURED + UNSTRUCTURED</a:t>
            </a:r>
          </a:p>
        </p:txBody>
      </p:sp>
      <p:sp>
        <p:nvSpPr>
          <p:cNvPr id="174" name="TextBox 173" descr="ImpactStatementGenerated">
            <a:extLst>
              <a:ext uri="{FF2B5EF4-FFF2-40B4-BE49-F238E27FC236}">
                <a16:creationId xmlns:a16="http://schemas.microsoft.com/office/drawing/2014/main" id="{1D9DCA1D-5C6B-0EC1-2068-54CAE2876C05}"/>
              </a:ext>
            </a:extLst>
          </p:cNvPr>
          <p:cNvSpPr txBox="1"/>
          <p:nvPr/>
        </p:nvSpPr>
        <p:spPr>
          <a:xfrm>
            <a:off x="6540500" y="247186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>
                <a:solidFill>
                  <a:srgbClr val="555555"/>
                </a:solidFill>
                <a:latin typeface="Aptos" panose="020B0004020202020204" pitchFamily="34" charset="0"/>
              </a:rPr>
              <a:t>Combines databases, transcripts, notes, chats and other touchpoints.</a:t>
            </a:r>
          </a:p>
        </p:txBody>
      </p:sp>
      <p:cxnSp>
        <p:nvCxnSpPr>
          <p:cNvPr id="175" name="Straight Connector 174" descr="ImpactStatementGenerated">
            <a:extLst>
              <a:ext uri="{FF2B5EF4-FFF2-40B4-BE49-F238E27FC236}">
                <a16:creationId xmlns:a16="http://schemas.microsoft.com/office/drawing/2014/main" id="{4381E95F-BC7B-59FB-AB95-60AE22041F23}"/>
              </a:ext>
            </a:extLst>
          </p:cNvPr>
          <p:cNvCxnSpPr/>
          <p:nvPr/>
        </p:nvCxnSpPr>
        <p:spPr>
          <a:xfrm>
            <a:off x="533400" y="2819400"/>
            <a:ext cx="8077200" cy="0"/>
          </a:xfrm>
          <a:prstGeom prst="line">
            <a:avLst/>
          </a:prstGeom>
          <a:ln w="1016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 descr="ImpactStatementGenerated">
            <a:extLst>
              <a:ext uri="{FF2B5EF4-FFF2-40B4-BE49-F238E27FC236}">
                <a16:creationId xmlns:a16="http://schemas.microsoft.com/office/drawing/2014/main" id="{7ECD3245-B0FE-DD9D-6F8E-1ED8DAB36004}"/>
              </a:ext>
            </a:extLst>
          </p:cNvPr>
          <p:cNvSpPr txBox="1"/>
          <p:nvPr/>
        </p:nvSpPr>
        <p:spPr>
          <a:xfrm>
            <a:off x="533400" y="3017966"/>
            <a:ext cx="3810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0096E6"/>
                </a:solidFill>
                <a:latin typeface="Aptos" panose="020B0004020202020204" pitchFamily="34" charset="0"/>
              </a:rPr>
              <a:t>03  BEYOND THE DEMO</a:t>
            </a:r>
          </a:p>
        </p:txBody>
      </p:sp>
      <p:sp>
        <p:nvSpPr>
          <p:cNvPr id="177" name="Oval 176" descr="ImpactStatementGenerated">
            <a:extLst>
              <a:ext uri="{FF2B5EF4-FFF2-40B4-BE49-F238E27FC236}">
                <a16:creationId xmlns:a16="http://schemas.microsoft.com/office/drawing/2014/main" id="{71B1DD50-08CE-5141-E393-5357954C2FDE}"/>
              </a:ext>
            </a:extLst>
          </p:cNvPr>
          <p:cNvSpPr/>
          <p:nvPr/>
        </p:nvSpPr>
        <p:spPr>
          <a:xfrm>
            <a:off x="533400" y="32893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TextBox 177" descr="ImpactStatementGenerated">
            <a:extLst>
              <a:ext uri="{FF2B5EF4-FFF2-40B4-BE49-F238E27FC236}">
                <a16:creationId xmlns:a16="http://schemas.microsoft.com/office/drawing/2014/main" id="{3EEE2366-0722-3601-A71B-D211C8FCFE59}"/>
              </a:ext>
            </a:extLst>
          </p:cNvPr>
          <p:cNvSpPr txBox="1"/>
          <p:nvPr/>
        </p:nvSpPr>
        <p:spPr>
          <a:xfrm>
            <a:off x="660400" y="327196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 b="1">
                <a:solidFill>
                  <a:srgbClr val="005087"/>
                </a:solidFill>
                <a:latin typeface="Aptos" panose="020B0004020202020204" pitchFamily="34" charset="0"/>
              </a:rPr>
              <a:t>INSURANCE &amp; LENDING</a:t>
            </a:r>
          </a:p>
        </p:txBody>
      </p:sp>
      <p:sp>
        <p:nvSpPr>
          <p:cNvPr id="179" name="TextBox 178" descr="ImpactStatementGenerated">
            <a:extLst>
              <a:ext uri="{FF2B5EF4-FFF2-40B4-BE49-F238E27FC236}">
                <a16:creationId xmlns:a16="http://schemas.microsoft.com/office/drawing/2014/main" id="{B78EE286-3764-07F2-55B7-404D343079E2}"/>
              </a:ext>
            </a:extLst>
          </p:cNvPr>
          <p:cNvSpPr txBox="1"/>
          <p:nvPr/>
        </p:nvSpPr>
        <p:spPr>
          <a:xfrm>
            <a:off x="2438400" y="325926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>
                <a:solidFill>
                  <a:srgbClr val="555555"/>
                </a:solidFill>
                <a:latin typeface="Aptos" panose="020B0004020202020204" pitchFamily="34" charset="0"/>
              </a:rPr>
              <a:t>Extend to claims, underwriting, retention, loan and policy workflows.</a:t>
            </a:r>
            <a:endParaRPr lang="en-IN" sz="71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80" name="Oval 179" descr="ImpactStatementGenerated">
            <a:extLst>
              <a:ext uri="{FF2B5EF4-FFF2-40B4-BE49-F238E27FC236}">
                <a16:creationId xmlns:a16="http://schemas.microsoft.com/office/drawing/2014/main" id="{4D51E676-A64E-7D85-DF92-EA90B61F1818}"/>
              </a:ext>
            </a:extLst>
          </p:cNvPr>
          <p:cNvSpPr/>
          <p:nvPr/>
        </p:nvSpPr>
        <p:spPr>
          <a:xfrm>
            <a:off x="533400" y="36957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1" name="TextBox 180" descr="ImpactStatementGenerated">
            <a:extLst>
              <a:ext uri="{FF2B5EF4-FFF2-40B4-BE49-F238E27FC236}">
                <a16:creationId xmlns:a16="http://schemas.microsoft.com/office/drawing/2014/main" id="{B0A34CA4-39B7-9BB7-F2ED-66FF60D0F8F8}"/>
              </a:ext>
            </a:extLst>
          </p:cNvPr>
          <p:cNvSpPr txBox="1"/>
          <p:nvPr/>
        </p:nvSpPr>
        <p:spPr>
          <a:xfrm>
            <a:off x="660400" y="367836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 b="1">
                <a:solidFill>
                  <a:srgbClr val="005087"/>
                </a:solidFill>
                <a:latin typeface="Aptos" panose="020B0004020202020204" pitchFamily="34" charset="0"/>
              </a:rPr>
              <a:t>MORE CUSTOMER PRODUCTS</a:t>
            </a:r>
          </a:p>
        </p:txBody>
      </p:sp>
      <p:sp>
        <p:nvSpPr>
          <p:cNvPr id="182" name="TextBox 181" descr="ImpactStatementGenerated">
            <a:extLst>
              <a:ext uri="{FF2B5EF4-FFF2-40B4-BE49-F238E27FC236}">
                <a16:creationId xmlns:a16="http://schemas.microsoft.com/office/drawing/2014/main" id="{2AC38D30-01B3-0965-17C3-ADBC05F657DD}"/>
              </a:ext>
            </a:extLst>
          </p:cNvPr>
          <p:cNvSpPr txBox="1"/>
          <p:nvPr/>
        </p:nvSpPr>
        <p:spPr>
          <a:xfrm>
            <a:off x="2438400" y="372029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>
                <a:solidFill>
                  <a:srgbClr val="555555"/>
                </a:solidFill>
                <a:latin typeface="Aptos" panose="020B0004020202020204" pitchFamily="34" charset="0"/>
              </a:rPr>
              <a:t>Extend Customer 360 to cards, investments, wealth, telecom and subscriptions.</a:t>
            </a:r>
            <a:endParaRPr lang="en-IN" sz="71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83" name="Oval 182" descr="ImpactStatementGenerated">
            <a:extLst>
              <a:ext uri="{FF2B5EF4-FFF2-40B4-BE49-F238E27FC236}">
                <a16:creationId xmlns:a16="http://schemas.microsoft.com/office/drawing/2014/main" id="{A275006F-CE23-0E8B-787A-F110573DB77B}"/>
              </a:ext>
            </a:extLst>
          </p:cNvPr>
          <p:cNvSpPr/>
          <p:nvPr/>
        </p:nvSpPr>
        <p:spPr>
          <a:xfrm>
            <a:off x="533400" y="41021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" name="TextBox 183" descr="ImpactStatementGenerated">
            <a:extLst>
              <a:ext uri="{FF2B5EF4-FFF2-40B4-BE49-F238E27FC236}">
                <a16:creationId xmlns:a16="http://schemas.microsoft.com/office/drawing/2014/main" id="{1E2659F4-82F8-61CB-7598-5AABF4E17817}"/>
              </a:ext>
            </a:extLst>
          </p:cNvPr>
          <p:cNvSpPr txBox="1"/>
          <p:nvPr/>
        </p:nvSpPr>
        <p:spPr>
          <a:xfrm>
            <a:off x="660400" y="408476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 b="1">
                <a:solidFill>
                  <a:srgbClr val="005087"/>
                </a:solidFill>
                <a:latin typeface="Aptos" panose="020B0004020202020204" pitchFamily="34" charset="0"/>
              </a:rPr>
              <a:t>MCP INTEGRATIONS</a:t>
            </a:r>
          </a:p>
        </p:txBody>
      </p:sp>
      <p:sp>
        <p:nvSpPr>
          <p:cNvPr id="185" name="TextBox 184" descr="ImpactStatementGenerated">
            <a:extLst>
              <a:ext uri="{FF2B5EF4-FFF2-40B4-BE49-F238E27FC236}">
                <a16:creationId xmlns:a16="http://schemas.microsoft.com/office/drawing/2014/main" id="{55CCF5EF-8584-8D0E-1AE6-80D358822224}"/>
              </a:ext>
            </a:extLst>
          </p:cNvPr>
          <p:cNvSpPr txBox="1"/>
          <p:nvPr/>
        </p:nvSpPr>
        <p:spPr>
          <a:xfrm>
            <a:off x="2438400" y="407206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>
                <a:solidFill>
                  <a:srgbClr val="555555"/>
                </a:solidFill>
                <a:latin typeface="Aptos" panose="020B0004020202020204" pitchFamily="34" charset="0"/>
              </a:rPr>
              <a:t>Move from recommendations to AI-driven actions across enterprise systems.</a:t>
            </a:r>
            <a:endParaRPr lang="en-IN" sz="71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86" name="TextBox 185" descr="ImpactStatementGenerated">
            <a:extLst>
              <a:ext uri="{FF2B5EF4-FFF2-40B4-BE49-F238E27FC236}">
                <a16:creationId xmlns:a16="http://schemas.microsoft.com/office/drawing/2014/main" id="{9C6FABF9-8ACF-2084-6CF4-3A2F896BA107}"/>
              </a:ext>
            </a:extLst>
          </p:cNvPr>
          <p:cNvSpPr txBox="1"/>
          <p:nvPr/>
        </p:nvSpPr>
        <p:spPr>
          <a:xfrm>
            <a:off x="4635500" y="3017966"/>
            <a:ext cx="3810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0096E6"/>
                </a:solidFill>
                <a:latin typeface="Aptos" panose="020B0004020202020204" pitchFamily="34" charset="0"/>
              </a:rPr>
              <a:t>04  BUSINESS VALUE</a:t>
            </a:r>
          </a:p>
        </p:txBody>
      </p:sp>
      <p:sp>
        <p:nvSpPr>
          <p:cNvPr id="187" name="Oval 186" descr="ImpactStatementGenerated">
            <a:extLst>
              <a:ext uri="{FF2B5EF4-FFF2-40B4-BE49-F238E27FC236}">
                <a16:creationId xmlns:a16="http://schemas.microsoft.com/office/drawing/2014/main" id="{15F7FA6A-1826-B091-8E37-893B4E2BFFDD}"/>
              </a:ext>
            </a:extLst>
          </p:cNvPr>
          <p:cNvSpPr/>
          <p:nvPr/>
        </p:nvSpPr>
        <p:spPr>
          <a:xfrm>
            <a:off x="4635500" y="32893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TextBox 187" descr="ImpactStatementGenerated">
            <a:extLst>
              <a:ext uri="{FF2B5EF4-FFF2-40B4-BE49-F238E27FC236}">
                <a16:creationId xmlns:a16="http://schemas.microsoft.com/office/drawing/2014/main" id="{1BAEEF15-C859-BDFC-6C3D-1019FEA60998}"/>
              </a:ext>
            </a:extLst>
          </p:cNvPr>
          <p:cNvSpPr txBox="1"/>
          <p:nvPr/>
        </p:nvSpPr>
        <p:spPr>
          <a:xfrm>
            <a:off x="4762500" y="327196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 b="1">
                <a:solidFill>
                  <a:srgbClr val="005087"/>
                </a:solidFill>
                <a:latin typeface="Aptos" panose="020B0004020202020204" pitchFamily="34" charset="0"/>
              </a:rPr>
              <a:t>FOCUS AGENT TIME</a:t>
            </a:r>
          </a:p>
        </p:txBody>
      </p:sp>
      <p:sp>
        <p:nvSpPr>
          <p:cNvPr id="189" name="TextBox 188" descr="ImpactStatementGenerated">
            <a:extLst>
              <a:ext uri="{FF2B5EF4-FFF2-40B4-BE49-F238E27FC236}">
                <a16:creationId xmlns:a16="http://schemas.microsoft.com/office/drawing/2014/main" id="{657EAA23-1E4A-6A92-6C36-617C0E1335EF}"/>
              </a:ext>
            </a:extLst>
          </p:cNvPr>
          <p:cNvSpPr txBox="1"/>
          <p:nvPr/>
        </p:nvSpPr>
        <p:spPr>
          <a:xfrm>
            <a:off x="6540500" y="325926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>
                <a:solidFill>
                  <a:srgbClr val="555555"/>
                </a:solidFill>
                <a:latin typeface="Aptos" panose="020B0004020202020204" pitchFamily="34" charset="0"/>
              </a:rPr>
              <a:t>Prioritize customers showing buying intent, uncertainty or churn signals.</a:t>
            </a:r>
            <a:endParaRPr lang="en-IN" sz="71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90" name="Oval 189" descr="ImpactStatementGenerated">
            <a:extLst>
              <a:ext uri="{FF2B5EF4-FFF2-40B4-BE49-F238E27FC236}">
                <a16:creationId xmlns:a16="http://schemas.microsoft.com/office/drawing/2014/main" id="{8574E7AA-2333-70FD-CB9B-1492CDD4EC24}"/>
              </a:ext>
            </a:extLst>
          </p:cNvPr>
          <p:cNvSpPr/>
          <p:nvPr/>
        </p:nvSpPr>
        <p:spPr>
          <a:xfrm>
            <a:off x="4635500" y="36957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1" name="TextBox 190" descr="ImpactStatementGenerated">
            <a:extLst>
              <a:ext uri="{FF2B5EF4-FFF2-40B4-BE49-F238E27FC236}">
                <a16:creationId xmlns:a16="http://schemas.microsoft.com/office/drawing/2014/main" id="{95A28BA9-4BF0-94A8-3EF7-A41DB86FC04D}"/>
              </a:ext>
            </a:extLst>
          </p:cNvPr>
          <p:cNvSpPr txBox="1"/>
          <p:nvPr/>
        </p:nvSpPr>
        <p:spPr>
          <a:xfrm>
            <a:off x="4762500" y="367836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 b="1">
                <a:solidFill>
                  <a:srgbClr val="005087"/>
                </a:solidFill>
                <a:latin typeface="Aptos" panose="020B0004020202020204" pitchFamily="34" charset="0"/>
              </a:rPr>
              <a:t>PERSONALIZED ENGAGEMENT</a:t>
            </a:r>
          </a:p>
        </p:txBody>
      </p:sp>
      <p:sp>
        <p:nvSpPr>
          <p:cNvPr id="192" name="TextBox 191" descr="ImpactStatementGenerated">
            <a:extLst>
              <a:ext uri="{FF2B5EF4-FFF2-40B4-BE49-F238E27FC236}">
                <a16:creationId xmlns:a16="http://schemas.microsoft.com/office/drawing/2014/main" id="{3150A0EB-6BAB-0123-5E38-136577F4C4A9}"/>
              </a:ext>
            </a:extLst>
          </p:cNvPr>
          <p:cNvSpPr txBox="1"/>
          <p:nvPr/>
        </p:nvSpPr>
        <p:spPr>
          <a:xfrm>
            <a:off x="6540500" y="366566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>
                <a:solidFill>
                  <a:srgbClr val="555555"/>
                </a:solidFill>
                <a:latin typeface="Aptos" panose="020B0004020202020204" pitchFamily="34" charset="0"/>
              </a:rPr>
              <a:t>Recommend the right product, offer or follow-up using context and sentiment.</a:t>
            </a:r>
            <a:endParaRPr lang="en-IN" sz="71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93" name="Oval 192" descr="ImpactStatementGenerated">
            <a:extLst>
              <a:ext uri="{FF2B5EF4-FFF2-40B4-BE49-F238E27FC236}">
                <a16:creationId xmlns:a16="http://schemas.microsoft.com/office/drawing/2014/main" id="{371400F2-8A38-5C36-8811-8F90481F9B6B}"/>
              </a:ext>
            </a:extLst>
          </p:cNvPr>
          <p:cNvSpPr/>
          <p:nvPr/>
        </p:nvSpPr>
        <p:spPr>
          <a:xfrm>
            <a:off x="4635500" y="4102100"/>
            <a:ext cx="50800" cy="50800"/>
          </a:xfrm>
          <a:prstGeom prst="ellipse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" name="TextBox 193" descr="ImpactStatementGenerated">
            <a:extLst>
              <a:ext uri="{FF2B5EF4-FFF2-40B4-BE49-F238E27FC236}">
                <a16:creationId xmlns:a16="http://schemas.microsoft.com/office/drawing/2014/main" id="{D83281A1-9B0B-E2C6-4B24-B7F3648BB284}"/>
              </a:ext>
            </a:extLst>
          </p:cNvPr>
          <p:cNvSpPr txBox="1"/>
          <p:nvPr/>
        </p:nvSpPr>
        <p:spPr>
          <a:xfrm>
            <a:off x="4762500" y="4139396"/>
            <a:ext cx="1778000" cy="10926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10" b="1">
                <a:solidFill>
                  <a:srgbClr val="005087"/>
                </a:solidFill>
                <a:latin typeface="Aptos" panose="020B0004020202020204" pitchFamily="34" charset="0"/>
              </a:rPr>
              <a:t>ONE CUSTOMER ? MULTIPLE PRODUCTS</a:t>
            </a:r>
          </a:p>
        </p:txBody>
      </p:sp>
      <p:sp>
        <p:nvSpPr>
          <p:cNvPr id="195" name="TextBox 194" descr="ImpactStatementGenerated">
            <a:extLst>
              <a:ext uri="{FF2B5EF4-FFF2-40B4-BE49-F238E27FC236}">
                <a16:creationId xmlns:a16="http://schemas.microsoft.com/office/drawing/2014/main" id="{125950D0-5831-6768-F7F3-392CD7807932}"/>
              </a:ext>
            </a:extLst>
          </p:cNvPr>
          <p:cNvSpPr txBox="1"/>
          <p:nvPr/>
        </p:nvSpPr>
        <p:spPr>
          <a:xfrm>
            <a:off x="6540500" y="4072066"/>
            <a:ext cx="1905000" cy="2185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710">
                <a:solidFill>
                  <a:srgbClr val="555555"/>
                </a:solidFill>
                <a:latin typeface="Aptos" panose="020B0004020202020204" pitchFamily="34" charset="0"/>
              </a:rPr>
              <a:t>A reusable Customer 360 engine rather than an insurance-only solution.</a:t>
            </a:r>
            <a:endParaRPr lang="en-IN" sz="71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96" name="TextBox 195" descr="ImpactStatementGenerated">
            <a:extLst>
              <a:ext uri="{FF2B5EF4-FFF2-40B4-BE49-F238E27FC236}">
                <a16:creationId xmlns:a16="http://schemas.microsoft.com/office/drawing/2014/main" id="{6CD8BF50-838D-CE02-10AF-D4F8806B2176}"/>
              </a:ext>
            </a:extLst>
          </p:cNvPr>
          <p:cNvSpPr txBox="1"/>
          <p:nvPr/>
        </p:nvSpPr>
        <p:spPr>
          <a:xfrm>
            <a:off x="2984500" y="4898805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00" b="1" dirty="0">
                <a:solidFill>
                  <a:srgbClr val="005087"/>
                </a:solidFill>
                <a:latin typeface="Aptos" panose="020B0004020202020204" pitchFamily="34" charset="0"/>
              </a:rPr>
              <a:t>Who needs attention  ?  Why  ?  What to do next</a:t>
            </a:r>
            <a:endParaRPr lang="en-IN" sz="800" b="1" dirty="0">
              <a:solidFill>
                <a:srgbClr val="00508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06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1DD4E3BE-6432-69DD-D98F-1D5DEADD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>
            <a:extLst>
              <a:ext uri="{FF2B5EF4-FFF2-40B4-BE49-F238E27FC236}">
                <a16:creationId xmlns:a16="http://schemas.microsoft.com/office/drawing/2014/main" id="{017610D0-5551-0E35-64F6-51B5A573D0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 descr="ProductDemoGenerated">
            <a:extLst>
              <a:ext uri="{FF2B5EF4-FFF2-40B4-BE49-F238E27FC236}">
                <a16:creationId xmlns:a16="http://schemas.microsoft.com/office/drawing/2014/main" id="{5ED05D79-A771-D500-3AAD-58105621A3C6}"/>
              </a:ext>
            </a:extLst>
          </p:cNvPr>
          <p:cNvSpPr txBox="1"/>
          <p:nvPr/>
        </p:nvSpPr>
        <p:spPr>
          <a:xfrm>
            <a:off x="533400" y="770066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1800" b="1">
                <a:solidFill>
                  <a:srgbClr val="191919"/>
                </a:solidFill>
                <a:latin typeface="Aptos" panose="020B0004020202020204" pitchFamily="34" charset="0"/>
              </a:rPr>
              <a:t>Product / Demo</a:t>
            </a:r>
          </a:p>
        </p:txBody>
      </p:sp>
      <p:sp>
        <p:nvSpPr>
          <p:cNvPr id="3" name="TextBox 2" descr="ProductDemoGenerated">
            <a:extLst>
              <a:ext uri="{FF2B5EF4-FFF2-40B4-BE49-F238E27FC236}">
                <a16:creationId xmlns:a16="http://schemas.microsoft.com/office/drawing/2014/main" id="{BBFEEF43-9361-2D51-4DD7-4339E8C9B270}"/>
              </a:ext>
            </a:extLst>
          </p:cNvPr>
          <p:cNvSpPr txBox="1"/>
          <p:nvPr/>
        </p:nvSpPr>
        <p:spPr>
          <a:xfrm>
            <a:off x="533400" y="1062166"/>
            <a:ext cx="762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00">
                <a:solidFill>
                  <a:srgbClr val="555555"/>
                </a:solidFill>
                <a:latin typeface="Aptos" panose="020B0004020202020204" pitchFamily="34" charset="0"/>
              </a:rPr>
              <a:t>Explore the product, implementation and end-to-end workflow</a:t>
            </a:r>
            <a:endParaRPr lang="en-IN" sz="80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 descr="ProductDemoGenerated">
            <a:extLst>
              <a:ext uri="{FF2B5EF4-FFF2-40B4-BE49-F238E27FC236}">
                <a16:creationId xmlns:a16="http://schemas.microsoft.com/office/drawing/2014/main" id="{49286BEA-E70C-39D1-5042-2F5C2EE21488}"/>
              </a:ext>
            </a:extLst>
          </p:cNvPr>
          <p:cNvCxnSpPr/>
          <p:nvPr/>
        </p:nvCxnSpPr>
        <p:spPr>
          <a:xfrm>
            <a:off x="533400" y="1244600"/>
            <a:ext cx="8077200" cy="0"/>
          </a:xfrm>
          <a:prstGeom prst="line">
            <a:avLst/>
          </a:prstGeom>
          <a:ln w="16510">
            <a:solidFill>
              <a:srgbClr val="009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 descr="ProductDemoGenerated">
            <a:extLst>
              <a:ext uri="{FF2B5EF4-FFF2-40B4-BE49-F238E27FC236}">
                <a16:creationId xmlns:a16="http://schemas.microsoft.com/office/drawing/2014/main" id="{D045D4A1-1746-2893-6B2A-8D5D5D5AE7AE}"/>
              </a:ext>
            </a:extLst>
          </p:cNvPr>
          <p:cNvSpPr txBox="1"/>
          <p:nvPr/>
        </p:nvSpPr>
        <p:spPr>
          <a:xfrm>
            <a:off x="533400" y="1570166"/>
            <a:ext cx="2794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0096E6"/>
                </a:solidFill>
                <a:latin typeface="Aptos" panose="020B0004020202020204" pitchFamily="34" charset="0"/>
              </a:rPr>
              <a:t>01  LIVE DEMO</a:t>
            </a:r>
          </a:p>
        </p:txBody>
      </p:sp>
      <p:sp>
        <p:nvSpPr>
          <p:cNvPr id="6" name="TextBox 5" descr="ProductDemoGenerated">
            <a:extLst>
              <a:ext uri="{FF2B5EF4-FFF2-40B4-BE49-F238E27FC236}">
                <a16:creationId xmlns:a16="http://schemas.microsoft.com/office/drawing/2014/main" id="{E309FD61-681B-2EC9-8608-ED9F32B1A94D}"/>
              </a:ext>
            </a:extLst>
          </p:cNvPr>
          <p:cNvSpPr txBox="1"/>
          <p:nvPr/>
        </p:nvSpPr>
        <p:spPr>
          <a:xfrm>
            <a:off x="533400" y="1862266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1000" b="1">
                <a:solidFill>
                  <a:srgbClr val="191919"/>
                </a:solidFill>
                <a:latin typeface="Aptos" panose="020B0004020202020204" pitchFamily="34" charset="0"/>
              </a:rPr>
              <a:t>Try the working application</a:t>
            </a:r>
          </a:p>
        </p:txBody>
      </p:sp>
      <p:sp>
        <p:nvSpPr>
          <p:cNvPr id="7" name="TextBox 6" descr="ProductDemoGenerated">
            <a:extLst>
              <a:ext uri="{FF2B5EF4-FFF2-40B4-BE49-F238E27FC236}">
                <a16:creationId xmlns:a16="http://schemas.microsoft.com/office/drawing/2014/main" id="{BF7105C9-8BF7-F540-1EA7-D79426549654}"/>
              </a:ext>
            </a:extLst>
          </p:cNvPr>
          <p:cNvSpPr txBox="1"/>
          <p:nvPr/>
        </p:nvSpPr>
        <p:spPr>
          <a:xfrm>
            <a:off x="533400" y="2154366"/>
            <a:ext cx="2349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00">
                <a:solidFill>
                  <a:srgbClr val="555555"/>
                </a:solidFill>
                <a:latin typeface="Aptos" panose="020B0004020202020204" pitchFamily="34" charset="0"/>
              </a:rPr>
              <a:t>Explore Customer 360, AI insights and Next Best Action.</a:t>
            </a:r>
            <a:endParaRPr lang="en-IN" sz="80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 descr="ProductDemoGenerated">
            <a:hlinkClick r:id="rId4"/>
            <a:extLst>
              <a:ext uri="{FF2B5EF4-FFF2-40B4-BE49-F238E27FC236}">
                <a16:creationId xmlns:a16="http://schemas.microsoft.com/office/drawing/2014/main" id="{1CE86EB1-6509-B123-438F-77AA52F046DE}"/>
              </a:ext>
            </a:extLst>
          </p:cNvPr>
          <p:cNvSpPr/>
          <p:nvPr/>
        </p:nvSpPr>
        <p:spPr>
          <a:xfrm>
            <a:off x="533400" y="2692400"/>
            <a:ext cx="1841500" cy="355600"/>
          </a:xfrm>
          <a:prstGeom prst="roundRect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750" b="1" dirty="0">
                <a:solidFill>
                  <a:srgbClr val="FFFFFF"/>
                </a:solidFill>
                <a:latin typeface="Aptos" panose="020B0004020202020204" pitchFamily="34" charset="0"/>
              </a:rPr>
              <a:t>OPEN LIVE DEMO  ?</a:t>
            </a:r>
          </a:p>
        </p:txBody>
      </p:sp>
      <p:sp>
        <p:nvSpPr>
          <p:cNvPr id="9" name="TextBox 8" descr="ProductDemoGenerated">
            <a:extLst>
              <a:ext uri="{FF2B5EF4-FFF2-40B4-BE49-F238E27FC236}">
                <a16:creationId xmlns:a16="http://schemas.microsoft.com/office/drawing/2014/main" id="{53C06AF0-3CE0-DEFB-A67A-4B0967C74F91}"/>
              </a:ext>
            </a:extLst>
          </p:cNvPr>
          <p:cNvSpPr txBox="1"/>
          <p:nvPr/>
        </p:nvSpPr>
        <p:spPr>
          <a:xfrm>
            <a:off x="3365500" y="1570166"/>
            <a:ext cx="2794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0096E6"/>
                </a:solidFill>
                <a:latin typeface="Aptos" panose="020B0004020202020204" pitchFamily="34" charset="0"/>
              </a:rPr>
              <a:t>02  GITHUB REPOSITORY</a:t>
            </a:r>
          </a:p>
        </p:txBody>
      </p:sp>
      <p:sp>
        <p:nvSpPr>
          <p:cNvPr id="10" name="TextBox 9" descr="ProductDemoGenerated">
            <a:extLst>
              <a:ext uri="{FF2B5EF4-FFF2-40B4-BE49-F238E27FC236}">
                <a16:creationId xmlns:a16="http://schemas.microsoft.com/office/drawing/2014/main" id="{C85F8835-875C-0485-6E0F-22B206CB735A}"/>
              </a:ext>
            </a:extLst>
          </p:cNvPr>
          <p:cNvSpPr txBox="1"/>
          <p:nvPr/>
        </p:nvSpPr>
        <p:spPr>
          <a:xfrm>
            <a:off x="3365500" y="1862266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1000" b="1">
                <a:solidFill>
                  <a:srgbClr val="191919"/>
                </a:solidFill>
                <a:latin typeface="Aptos" panose="020B0004020202020204" pitchFamily="34" charset="0"/>
              </a:rPr>
              <a:t>Explore the implementation</a:t>
            </a:r>
          </a:p>
        </p:txBody>
      </p:sp>
      <p:sp>
        <p:nvSpPr>
          <p:cNvPr id="11" name="TextBox 10" descr="ProductDemoGenerated">
            <a:extLst>
              <a:ext uri="{FF2B5EF4-FFF2-40B4-BE49-F238E27FC236}">
                <a16:creationId xmlns:a16="http://schemas.microsoft.com/office/drawing/2014/main" id="{9C0D419F-898F-D99B-8781-2E24C4A05156}"/>
              </a:ext>
            </a:extLst>
          </p:cNvPr>
          <p:cNvSpPr txBox="1"/>
          <p:nvPr/>
        </p:nvSpPr>
        <p:spPr>
          <a:xfrm>
            <a:off x="3365500" y="2154366"/>
            <a:ext cx="2349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00">
                <a:solidFill>
                  <a:srgbClr val="555555"/>
                </a:solidFill>
                <a:latin typeface="Aptos" panose="020B0004020202020204" pitchFamily="34" charset="0"/>
              </a:rPr>
              <a:t>View source code, architecture and project documentation.</a:t>
            </a:r>
            <a:endParaRPr lang="en-IN" sz="80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 descr="ProductDemoGenerated">
            <a:hlinkClick r:id="rId5"/>
            <a:extLst>
              <a:ext uri="{FF2B5EF4-FFF2-40B4-BE49-F238E27FC236}">
                <a16:creationId xmlns:a16="http://schemas.microsoft.com/office/drawing/2014/main" id="{A3263AF4-4E22-F2EE-ECD4-595B06E8B967}"/>
              </a:ext>
            </a:extLst>
          </p:cNvPr>
          <p:cNvSpPr/>
          <p:nvPr/>
        </p:nvSpPr>
        <p:spPr>
          <a:xfrm>
            <a:off x="3365500" y="2692400"/>
            <a:ext cx="1587500" cy="355600"/>
          </a:xfrm>
          <a:prstGeom prst="roundRect">
            <a:avLst/>
          </a:prstGeom>
          <a:solidFill>
            <a:srgbClr val="00508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750" b="1" dirty="0">
                <a:solidFill>
                  <a:srgbClr val="FFFFFF"/>
                </a:solidFill>
                <a:latin typeface="Aptos" panose="020B0004020202020204" pitchFamily="34" charset="0"/>
              </a:rPr>
              <a:t>VIEW </a:t>
            </a:r>
            <a:r>
              <a:rPr lang="en-IN" sz="750" b="1">
                <a:solidFill>
                  <a:srgbClr val="FFFFFF"/>
                </a:solidFill>
                <a:latin typeface="Aptos" panose="020B0004020202020204" pitchFamily="34" charset="0"/>
              </a:rPr>
              <a:t>GITHUB</a:t>
            </a:r>
            <a:r>
              <a:rPr lang="en-IN" sz="750" b="1" dirty="0">
                <a:solidFill>
                  <a:srgbClr val="FFFFFF"/>
                </a:solidFill>
                <a:latin typeface="Aptos" panose="020B0004020202020204" pitchFamily="34" charset="0"/>
              </a:rPr>
              <a:t>  ?</a:t>
            </a:r>
          </a:p>
        </p:txBody>
      </p:sp>
      <p:sp>
        <p:nvSpPr>
          <p:cNvPr id="13" name="TextBox 12" descr="ProductDemoGenerated">
            <a:extLst>
              <a:ext uri="{FF2B5EF4-FFF2-40B4-BE49-F238E27FC236}">
                <a16:creationId xmlns:a16="http://schemas.microsoft.com/office/drawing/2014/main" id="{77924EDE-A8FC-9C31-2102-B903293BB464}"/>
              </a:ext>
            </a:extLst>
          </p:cNvPr>
          <p:cNvSpPr txBox="1"/>
          <p:nvPr/>
        </p:nvSpPr>
        <p:spPr>
          <a:xfrm>
            <a:off x="6197600" y="1570166"/>
            <a:ext cx="2794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0096E6"/>
                </a:solidFill>
                <a:latin typeface="Aptos" panose="020B0004020202020204" pitchFamily="34" charset="0"/>
              </a:rPr>
              <a:t>03  DEMO VIDEO</a:t>
            </a:r>
          </a:p>
        </p:txBody>
      </p:sp>
      <p:sp>
        <p:nvSpPr>
          <p:cNvPr id="14" name="TextBox 13" descr="ProductDemoGenerated">
            <a:extLst>
              <a:ext uri="{FF2B5EF4-FFF2-40B4-BE49-F238E27FC236}">
                <a16:creationId xmlns:a16="http://schemas.microsoft.com/office/drawing/2014/main" id="{2AAB0417-C1A7-EA96-0A5F-5D2E0EC3666C}"/>
              </a:ext>
            </a:extLst>
          </p:cNvPr>
          <p:cNvSpPr txBox="1"/>
          <p:nvPr/>
        </p:nvSpPr>
        <p:spPr>
          <a:xfrm>
            <a:off x="6197600" y="1862266"/>
            <a:ext cx="23495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1000" b="1">
                <a:solidFill>
                  <a:srgbClr val="191919"/>
                </a:solidFill>
                <a:latin typeface="Aptos" panose="020B0004020202020204" pitchFamily="34" charset="0"/>
              </a:rPr>
              <a:t>Watch the end-to-end workflow</a:t>
            </a:r>
          </a:p>
        </p:txBody>
      </p:sp>
      <p:sp>
        <p:nvSpPr>
          <p:cNvPr id="15" name="TextBox 14" descr="ProductDemoGenerated">
            <a:extLst>
              <a:ext uri="{FF2B5EF4-FFF2-40B4-BE49-F238E27FC236}">
                <a16:creationId xmlns:a16="http://schemas.microsoft.com/office/drawing/2014/main" id="{3DBBA4E5-FF51-6E70-C827-7A58EB990065}"/>
              </a:ext>
            </a:extLst>
          </p:cNvPr>
          <p:cNvSpPr txBox="1"/>
          <p:nvPr/>
        </p:nvSpPr>
        <p:spPr>
          <a:xfrm>
            <a:off x="6197600" y="2154366"/>
            <a:ext cx="2349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00">
                <a:solidFill>
                  <a:srgbClr val="555555"/>
                </a:solidFill>
                <a:latin typeface="Aptos" panose="020B0004020202020204" pitchFamily="34" charset="0"/>
              </a:rPr>
              <a:t>See how customer context becomes actionable recommendations.</a:t>
            </a:r>
            <a:endParaRPr lang="en-IN" sz="80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 descr="ProductDemoGenerated">
            <a:hlinkClick r:id="rId6"/>
            <a:extLst>
              <a:ext uri="{FF2B5EF4-FFF2-40B4-BE49-F238E27FC236}">
                <a16:creationId xmlns:a16="http://schemas.microsoft.com/office/drawing/2014/main" id="{245FE49F-59FD-11C9-0D9A-1857DFA0F2EF}"/>
              </a:ext>
            </a:extLst>
          </p:cNvPr>
          <p:cNvSpPr/>
          <p:nvPr/>
        </p:nvSpPr>
        <p:spPr>
          <a:xfrm>
            <a:off x="6197600" y="2692400"/>
            <a:ext cx="1651000" cy="355600"/>
          </a:xfrm>
          <a:prstGeom prst="roundRect">
            <a:avLst/>
          </a:prstGeom>
          <a:solidFill>
            <a:srgbClr val="0096E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750" b="1">
                <a:solidFill>
                  <a:srgbClr val="FFFFFF"/>
                </a:solidFill>
                <a:latin typeface="Aptos" panose="020B0004020202020204" pitchFamily="34" charset="0"/>
              </a:rPr>
              <a:t>WATCH VIDEO  ?</a:t>
            </a:r>
          </a:p>
        </p:txBody>
      </p:sp>
      <p:cxnSp>
        <p:nvCxnSpPr>
          <p:cNvPr id="17" name="Straight Connector 16" descr="ProductDemoGenerated">
            <a:extLst>
              <a:ext uri="{FF2B5EF4-FFF2-40B4-BE49-F238E27FC236}">
                <a16:creationId xmlns:a16="http://schemas.microsoft.com/office/drawing/2014/main" id="{8F855CD1-80C6-5AEC-2246-036C69235D46}"/>
              </a:ext>
            </a:extLst>
          </p:cNvPr>
          <p:cNvCxnSpPr/>
          <p:nvPr/>
        </p:nvCxnSpPr>
        <p:spPr>
          <a:xfrm>
            <a:off x="533400" y="3327400"/>
            <a:ext cx="8077200" cy="0"/>
          </a:xfrm>
          <a:prstGeom prst="line">
            <a:avLst/>
          </a:prstGeom>
          <a:ln w="10160">
            <a:solidFill>
              <a:srgbClr val="D7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 descr="ProductDemoGenerated">
            <a:extLst>
              <a:ext uri="{FF2B5EF4-FFF2-40B4-BE49-F238E27FC236}">
                <a16:creationId xmlns:a16="http://schemas.microsoft.com/office/drawing/2014/main" id="{F56EB875-40BC-7F78-52C6-1A17C431B67A}"/>
              </a:ext>
            </a:extLst>
          </p:cNvPr>
          <p:cNvSpPr txBox="1"/>
          <p:nvPr/>
        </p:nvSpPr>
        <p:spPr>
          <a:xfrm>
            <a:off x="533400" y="3564066"/>
            <a:ext cx="27940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750" b="1">
                <a:solidFill>
                  <a:srgbClr val="0096E6"/>
                </a:solidFill>
                <a:latin typeface="Aptos" panose="020B0004020202020204" pitchFamily="34" charset="0"/>
              </a:rPr>
              <a:t>QUICK ACCESS</a:t>
            </a:r>
          </a:p>
        </p:txBody>
      </p:sp>
      <p:sp>
        <p:nvSpPr>
          <p:cNvPr id="19" name="TextBox 18" descr="ProductDemoGenerated">
            <a:hlinkClick r:id="rId4"/>
            <a:extLst>
              <a:ext uri="{FF2B5EF4-FFF2-40B4-BE49-F238E27FC236}">
                <a16:creationId xmlns:a16="http://schemas.microsoft.com/office/drawing/2014/main" id="{8DA16910-0F9A-0F18-19A5-BBC29E1B3CE1}"/>
              </a:ext>
            </a:extLst>
          </p:cNvPr>
          <p:cNvSpPr txBox="1"/>
          <p:nvPr/>
        </p:nvSpPr>
        <p:spPr>
          <a:xfrm>
            <a:off x="533400" y="3881566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800" b="1" dirty="0">
                <a:solidFill>
                  <a:srgbClr val="005087"/>
                </a:solidFill>
                <a:latin typeface="Aptos" panose="020B0004020202020204" pitchFamily="34" charset="0"/>
              </a:rPr>
              <a:t>LIVE</a:t>
            </a:r>
          </a:p>
        </p:txBody>
      </p:sp>
      <p:sp>
        <p:nvSpPr>
          <p:cNvPr id="20" name="TextBox 19" descr="ProductDemoGenerated">
            <a:extLst>
              <a:ext uri="{FF2B5EF4-FFF2-40B4-BE49-F238E27FC236}">
                <a16:creationId xmlns:a16="http://schemas.microsoft.com/office/drawing/2014/main" id="{7FE6E600-6E63-F4C3-FF51-8DF81D76610C}"/>
              </a:ext>
            </a:extLst>
          </p:cNvPr>
          <p:cNvSpPr txBox="1"/>
          <p:nvPr/>
        </p:nvSpPr>
        <p:spPr>
          <a:xfrm>
            <a:off x="1143000" y="3881566"/>
            <a:ext cx="2286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800" dirty="0">
                <a:solidFill>
                  <a:srgbClr val="555555"/>
                </a:solidFill>
                <a:latin typeface="Aptos" panose="020B0004020202020204" pitchFamily="34" charset="0"/>
                <a:hlinkClick r:id="rId4"/>
              </a:rPr>
              <a:t>Working Customer 360 application</a:t>
            </a:r>
            <a:endParaRPr lang="en-IN" sz="800" dirty="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 descr="ProductDemoGenerated">
            <a:extLst>
              <a:ext uri="{FF2B5EF4-FFF2-40B4-BE49-F238E27FC236}">
                <a16:creationId xmlns:a16="http://schemas.microsoft.com/office/drawing/2014/main" id="{5866DC8C-4423-E755-D04F-577CBAFFEFE0}"/>
              </a:ext>
            </a:extLst>
          </p:cNvPr>
          <p:cNvSpPr txBox="1"/>
          <p:nvPr/>
        </p:nvSpPr>
        <p:spPr>
          <a:xfrm>
            <a:off x="3619500" y="3881566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800" b="1" dirty="0">
                <a:solidFill>
                  <a:srgbClr val="005087"/>
                </a:solidFill>
                <a:latin typeface="Aptos" panose="020B0004020202020204" pitchFamily="34" charset="0"/>
              </a:rPr>
              <a:t>CODE</a:t>
            </a:r>
          </a:p>
        </p:txBody>
      </p:sp>
      <p:sp>
        <p:nvSpPr>
          <p:cNvPr id="22" name="TextBox 21" descr="ProductDemoGenerated">
            <a:extLst>
              <a:ext uri="{FF2B5EF4-FFF2-40B4-BE49-F238E27FC236}">
                <a16:creationId xmlns:a16="http://schemas.microsoft.com/office/drawing/2014/main" id="{6F70ACA4-8D3C-F3D3-2AAF-4105489FF1F0}"/>
              </a:ext>
            </a:extLst>
          </p:cNvPr>
          <p:cNvSpPr txBox="1"/>
          <p:nvPr/>
        </p:nvSpPr>
        <p:spPr>
          <a:xfrm>
            <a:off x="4229100" y="3881566"/>
            <a:ext cx="1651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800" dirty="0">
                <a:solidFill>
                  <a:srgbClr val="555555"/>
                </a:solidFill>
                <a:latin typeface="Aptos" panose="020B0004020202020204" pitchFamily="34" charset="0"/>
                <a:hlinkClick r:id="rId5"/>
              </a:rPr>
              <a:t>GitHub repository</a:t>
            </a:r>
            <a:endParaRPr lang="en-IN" sz="800" dirty="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 descr="ProductDemoGenerated">
            <a:extLst>
              <a:ext uri="{FF2B5EF4-FFF2-40B4-BE49-F238E27FC236}">
                <a16:creationId xmlns:a16="http://schemas.microsoft.com/office/drawing/2014/main" id="{CD636A1B-EC9A-EF54-2B7D-70804928A6D2}"/>
              </a:ext>
            </a:extLst>
          </p:cNvPr>
          <p:cNvSpPr txBox="1"/>
          <p:nvPr/>
        </p:nvSpPr>
        <p:spPr>
          <a:xfrm>
            <a:off x="6159500" y="3881566"/>
            <a:ext cx="635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800" b="1" dirty="0">
                <a:solidFill>
                  <a:srgbClr val="005087"/>
                </a:solidFill>
                <a:latin typeface="Aptos" panose="020B0004020202020204" pitchFamily="34" charset="0"/>
              </a:rPr>
              <a:t>VIDEO</a:t>
            </a:r>
          </a:p>
        </p:txBody>
      </p:sp>
      <p:sp>
        <p:nvSpPr>
          <p:cNvPr id="24" name="TextBox 23" descr="ProductDemoGenerated">
            <a:extLst>
              <a:ext uri="{FF2B5EF4-FFF2-40B4-BE49-F238E27FC236}">
                <a16:creationId xmlns:a16="http://schemas.microsoft.com/office/drawing/2014/main" id="{2E8FE057-226D-A34D-622D-53ADF7C1C0A1}"/>
              </a:ext>
            </a:extLst>
          </p:cNvPr>
          <p:cNvSpPr txBox="1"/>
          <p:nvPr/>
        </p:nvSpPr>
        <p:spPr>
          <a:xfrm>
            <a:off x="6794500" y="3881566"/>
            <a:ext cx="1778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IN" sz="800" dirty="0">
                <a:solidFill>
                  <a:srgbClr val="555555"/>
                </a:solidFill>
                <a:latin typeface="Aptos" panose="020B0004020202020204" pitchFamily="34" charset="0"/>
                <a:hlinkClick r:id="rId6"/>
              </a:rPr>
              <a:t>End-to-end product walkthrough</a:t>
            </a:r>
            <a:endParaRPr lang="en-IN" sz="800" dirty="0">
              <a:solidFill>
                <a:srgbClr val="555555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 descr="ProductDemoGenerated">
            <a:extLst>
              <a:ext uri="{FF2B5EF4-FFF2-40B4-BE49-F238E27FC236}">
                <a16:creationId xmlns:a16="http://schemas.microsoft.com/office/drawing/2014/main" id="{EFC4ABEE-BDFC-B385-1FDB-F69FE7776B4B}"/>
              </a:ext>
            </a:extLst>
          </p:cNvPr>
          <p:cNvSpPr txBox="1"/>
          <p:nvPr/>
        </p:nvSpPr>
        <p:spPr>
          <a:xfrm>
            <a:off x="2819400" y="4907663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800" b="1" dirty="0">
                <a:solidFill>
                  <a:srgbClr val="005087"/>
                </a:solidFill>
                <a:latin typeface="Aptos" panose="020B0004020202020204" pitchFamily="34" charset="0"/>
              </a:rPr>
              <a:t>Explore the product  ?  Review the code  ?  Watch the workflow</a:t>
            </a:r>
            <a:endParaRPr lang="en-IN" sz="800" b="1" dirty="0">
              <a:solidFill>
                <a:srgbClr val="00508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86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649</Words>
  <Application>Microsoft Office PowerPoint</Application>
  <PresentationFormat>On-screen Show (16:9)</PresentationFormat>
  <Paragraphs>125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Manrope SemiBold</vt:lpstr>
      <vt:lpstr>Calibri</vt:lpstr>
      <vt:lpstr>Aptos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Dhiraj Karangale</cp:lastModifiedBy>
  <cp:revision>655</cp:revision>
  <dcterms:modified xsi:type="dcterms:W3CDTF">2026-10-04T16:50:22Z</dcterms:modified>
</cp:coreProperties>
</file>